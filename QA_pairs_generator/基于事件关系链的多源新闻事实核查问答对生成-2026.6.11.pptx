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8" r:id="rId3"/>
    <p:sldId id="261" r:id="rId5"/>
    <p:sldId id="262" r:id="rId6"/>
    <p:sldId id="267" r:id="rId7"/>
    <p:sldId id="275" r:id="rId8"/>
    <p:sldId id="263" r:id="rId9"/>
    <p:sldId id="269" r:id="rId10"/>
    <p:sldId id="278" r:id="rId11"/>
    <p:sldId id="279" r:id="rId12"/>
    <p:sldId id="280" r:id="rId13"/>
    <p:sldId id="281" r:id="rId14"/>
    <p:sldId id="282" r:id="rId15"/>
    <p:sldId id="283" r:id="rId16"/>
    <p:sldId id="287" r:id="rId17"/>
    <p:sldId id="288" r:id="rId18"/>
    <p:sldId id="264" r:id="rId19"/>
    <p:sldId id="271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265" r:id="rId34"/>
    <p:sldId id="302" r:id="rId35"/>
    <p:sldId id="303" r:id="rId36"/>
    <p:sldId id="305" r:id="rId37"/>
    <p:sldId id="266" r:id="rId38"/>
  </p:sldIdLst>
  <p:sldSz cx="12192000" cy="6858000"/>
  <p:notesSz cx="6858000" cy="9144000"/>
  <p:embeddedFontLst>
    <p:embeddedFont>
      <p:font typeface="思源黑体 CN Regular" panose="020B0500000000000000" pitchFamily="34" charset="-122"/>
      <p:regular r:id="rId43"/>
    </p:embeddedFont>
    <p:embeddedFont>
      <p:font typeface="思源黑体 CN Bold" panose="020B0800000000000000" pitchFamily="34" charset="-122"/>
      <p:bold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6" userDrawn="1">
          <p15:clr>
            <a:srgbClr val="A4A3A4"/>
          </p15:clr>
        </p15:guide>
        <p15:guide id="2" pos="3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E84"/>
    <a:srgbClr val="E3C19E"/>
    <a:srgbClr val="EDEDEF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CC6CFB-0933-472C-8A9B-D812CB76F608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525E84"/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525E84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525E84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525E84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525E84"/>
              </a:solidFill>
              <a:prstDash val="solid"/>
            </a:ln>
          </a:left>
          <a:right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525E84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525E84"/>
        </a:fontRef>
      </a:tcTxStyle>
      <a:tcStyle>
        <a:tcBdr>
          <a:left>
            <a:ln w="9525" cmpd="sng">
              <a:solidFill>
                <a:srgbClr val="525E84"/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525E84"/>
        </a:fontRef>
      </a:tcTxStyle>
      <a:tcStyle>
        <a:tcBdr>
          <a:left>
            <a:ln w="9525" cmpd="sng">
              <a:solidFill>
                <a:srgbClr val="525E84"/>
              </a:solidFill>
              <a:prstDash val="solid"/>
            </a:ln>
          </a:left>
          <a:right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525E84"/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525E84"/>
          </a:solidFill>
        </a:fill>
      </a:tcStyle>
    </a:firstRow>
    <a:neCell>
      <a:tcStyle>
        <a:tcBdr>
          <a:left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525E84"/>
              </a:solidFill>
              <a:prstDash val="solid"/>
            </a:ln>
          </a:right>
          <a:top>
            <a:ln w="9525" cmpd="sng">
              <a:solidFill>
                <a:srgbClr val="525E84"/>
              </a:solidFill>
              <a:prstDash val="solid"/>
            </a:ln>
          </a:top>
          <a:bottom>
            <a:ln w="9525" cmpd="sng">
              <a:solidFill>
                <a:srgbClr val="525E84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321" y="42"/>
      </p:cViewPr>
      <p:guideLst>
        <p:guide orient="horz" pos="2056"/>
        <p:guide pos="39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257.xml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Regular" panose="020B0500000000000000" pitchFamily="34" charset="-122"/>
              </a:rPr>
            </a:fld>
            <a:endParaRPr lang="zh-CN" altLang="en-US">
              <a:latin typeface="思源黑体 CN Regular" panose="020B05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Regular" panose="020B0500000000000000" pitchFamily="34" charset="-122"/>
              </a:rPr>
            </a:fld>
            <a:endParaRPr lang="zh-CN" altLang="en-US">
              <a:latin typeface="思源黑体 CN Regular" panose="020B05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大家好，今天汇报的主题是</a:t>
            </a:r>
            <a:r>
              <a:rPr lang="en-US" altLang="zh-CN"/>
              <a:t> </a:t>
            </a:r>
            <a:r>
              <a:rPr lang="zh-CN" altLang="en-US"/>
              <a:t>基于事件关系链的多源新闻事实核查的问答对生成研究，我是徐韵曦。汇报主要分为以下几个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当前，互联网信息呈现爆炸式增长，但与此同时，虚假新闻和矛盾信息也在大量泛滥。公众在海量信息面前往往难以辨别真伪，这不仅影响个人认知，更对社会秩序构成了严峻挑战。</a:t>
            </a:r>
            <a:endParaRPr lang="zh-CN" altLang="en-US"/>
          </a:p>
          <a:p>
            <a:r>
              <a:rPr lang="zh-CN" altLang="en-US">
                <a:sym typeface="+mn-ea"/>
              </a:rPr>
              <a:t>传统的事实核查研究主要聚焦于对单一文本主张的独立验证，即给定一个孤立的陈述，去检索证据判断其真假。然而，这种范式忽略了现实世界中信息存在的两个重要特征：一是多源性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同一个事件往往有多家媒体报道；二是矛盾性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不同报道之间可能存在事实不一致。现有方法缺乏对这种跨文档矛盾的有效检测机制，无法处理多源信息之间的冲突。</a:t>
            </a:r>
            <a:endParaRPr lang="zh-CN" altLang="en-US"/>
          </a:p>
          <a:p>
            <a:r>
              <a:rPr lang="zh-CN" altLang="en-US">
                <a:sym typeface="+mn-ea"/>
              </a:rPr>
              <a:t>所以我的研究目标就是构建一个能够自动生成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多源新闻交叉验证问题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的系统。利用不同来源报道之间的事件关系差异，自动识别事实冲突，从而辅助人工事实核查工作。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研究的创新点主要有以下四个方面。第一是构建多源交叉验证范式。第二是采用</a:t>
            </a:r>
            <a:r>
              <a:rPr lang="en-US" altLang="zh-CN"/>
              <a:t>Graph RAG</a:t>
            </a:r>
            <a:r>
              <a:rPr lang="zh-CN" altLang="en-US"/>
              <a:t>构建图检索进行事实核查。第三是多维问答对的自动生成。第四是研究构建了一套流水线系统，从数据处理到</a:t>
            </a:r>
            <a:r>
              <a:rPr lang="en-US" altLang="zh-CN"/>
              <a:t>QA</a:t>
            </a:r>
            <a:r>
              <a:rPr lang="zh-CN" altLang="en-US"/>
              <a:t>生成及评估的</a:t>
            </a:r>
            <a:r>
              <a:rPr lang="zh-CN" altLang="en-US"/>
              <a:t>全流程。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研究主要分为以下四步。数据处理、构建知识图谱、事实核查和问答对生成。最终构建多源新闻事实核查问答对</a:t>
            </a:r>
            <a:r>
              <a:rPr lang="zh-CN" altLang="en-US"/>
              <a:t>数据集。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>
                <a:sym typeface="+mn-ea"/>
              </a:rPr>
              <a:t>WCEP</a:t>
            </a: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Wikipedia Current Events Portal</a:t>
            </a:r>
            <a:r>
              <a:rPr lang="zh-CN" altLang="en-US" b="1">
                <a:sym typeface="+mn-ea"/>
              </a:rPr>
              <a:t>，维基百科当前事件门户数据集）</a:t>
            </a:r>
            <a:r>
              <a:rPr lang="zh-CN" altLang="en-US">
                <a:sym typeface="+mn-ea"/>
              </a:rPr>
              <a:t>是一个专门面向多源新闻事件分析的大规模数据集。该数据集的核心特点在于其天然的多源对齐结构：每个样本对应一个真实世界中的热点事件，聚合了来自不同媒体、不同立场、不同时间点的多篇相关新闻报道。每篇文章不仅包含完整的正文文本和标题，还标注了所属事件的事件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以及高维语义事件向量，便于进行跨文档的事件对齐与相似度计算</a:t>
            </a: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sym typeface="+mn-ea"/>
              </a:rPr>
              <a:t>。</a:t>
            </a:r>
            <a:endParaRPr kumimoji="0" lang="zh-CN" altLang="en-US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对数据集进行预处理后，第一步就是构建知识图谱，利用提示词工程的方法，写出生成知识图谱的</a:t>
            </a:r>
            <a:r>
              <a:rPr lang="en-US" altLang="zh-CN">
                <a:sym typeface="+mn-ea"/>
              </a:rPr>
              <a:t>schema</a:t>
            </a:r>
            <a:r>
              <a:rPr lang="zh-CN" altLang="en-US">
                <a:sym typeface="+mn-ea"/>
              </a:rPr>
              <a:t>。在研究前中期采用的是</a:t>
            </a:r>
            <a:r>
              <a:rPr lang="en-US" altLang="zh-CN">
                <a:sym typeface="+mn-ea"/>
              </a:rPr>
              <a:t>langchain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LLMTransformer</a:t>
            </a:r>
            <a:r>
              <a:rPr lang="zh-CN" altLang="en-US">
                <a:sym typeface="+mn-ea"/>
              </a:rPr>
              <a:t>进行知识图谱构建，但因为该方法黑盒参数较多，对文本需要进行</a:t>
            </a:r>
            <a:r>
              <a:rPr lang="en-US" altLang="zh-CN">
                <a:sym typeface="+mn-ea"/>
              </a:rPr>
              <a:t>document</a:t>
            </a:r>
            <a:r>
              <a:rPr lang="zh-CN" altLang="en-US">
                <a:sym typeface="+mn-ea"/>
              </a:rPr>
              <a:t>二次包装，处理速度慢。相较而言，通过构建更复杂更严格的提示词并直接调用大模型，获得的效果相差无几，处理速度更快，所以最终采用了后面这种方式。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页面里展示的就是要求构建的节点类型和关系类型，关系类型重点关注了时序、因果、矛盾关系，但同时要求大模型保留自由关系类型，在确保全面的基础上，声明了</a:t>
            </a:r>
            <a:r>
              <a:rPr lang="zh-CN" altLang="en-US">
                <a:sym typeface="+mn-ea"/>
              </a:rPr>
              <a:t>重点。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由于前期采取了</a:t>
            </a:r>
            <a:r>
              <a:rPr lang="en-US" altLang="zh-CN"/>
              <a:t>LLMTransformer</a:t>
            </a:r>
            <a:r>
              <a:rPr lang="zh-CN" altLang="en-US"/>
              <a:t>的方法，生成的格式为五元组，为避免重复工作，后续要求大模型生成同样的五元组，并通过脚本转换为</a:t>
            </a:r>
            <a:r>
              <a:rPr lang="zh-CN" altLang="en-US"/>
              <a:t>三元组。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对每个三元组的</a:t>
            </a:r>
            <a:r>
              <a:rPr lang="en-US" altLang="zh-CN">
                <a:sym typeface="+mn-ea"/>
              </a:rPr>
              <a:t>source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target</a:t>
            </a:r>
            <a:r>
              <a:rPr lang="zh-CN" altLang="en-US">
                <a:sym typeface="+mn-ea"/>
              </a:rPr>
              <a:t>分别建立实体映射，用字典形式存储，形成事件级别跨文档实体索引。为避免主文件中信息过多，将构建的索引单独存储到新的</a:t>
            </a:r>
            <a:r>
              <a:rPr lang="en-US" altLang="zh-CN">
                <a:sym typeface="+mn-ea"/>
              </a:rPr>
              <a:t>jsonl</a:t>
            </a:r>
            <a:r>
              <a:rPr lang="zh-CN" altLang="en-US">
                <a:sym typeface="+mn-ea"/>
              </a:rPr>
              <a:t>文件中。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构建索引有利于后续知识图谱快速查找，跨文档构建实体索引实现了多源信息融合。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将样本事件的</a:t>
            </a:r>
            <a:r>
              <a:rPr lang="en-US" altLang="zh-CN"/>
              <a:t>sample_summary</a:t>
            </a:r>
            <a:r>
              <a:rPr lang="zh-CN" altLang="en-US"/>
              <a:t>与事件下各篇文章的</a:t>
            </a:r>
            <a:r>
              <a:rPr lang="en-US" altLang="zh-CN"/>
              <a:t>article_title</a:t>
            </a:r>
            <a:r>
              <a:rPr lang="zh-CN" altLang="en-US"/>
              <a:t>结合作为</a:t>
            </a:r>
            <a:r>
              <a:rPr lang="en-US" altLang="zh-CN"/>
              <a:t>claim</a:t>
            </a:r>
            <a:r>
              <a:rPr lang="zh-CN" altLang="en-US"/>
              <a:t>，并提取实体。</a:t>
            </a:r>
            <a:endParaRPr lang="zh-CN" altLang="en-US"/>
          </a:p>
          <a:p>
            <a:r>
              <a:rPr lang="zh-CN" altLang="en-US"/>
              <a:t>知识图谱中检索相关三元组，采用精确匹配、基于编辑距离的模糊匹配收集一跳基础关联三元组，采用多跳匹配获取二跳关联三元组。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事实核查通过五级判定来判断</a:t>
            </a:r>
            <a:r>
              <a:rPr lang="en-US" altLang="zh-CN"/>
              <a:t>Verdict</a:t>
            </a:r>
            <a:r>
              <a:rPr lang="zh-CN" altLang="en-US"/>
              <a:t>类型，</a:t>
            </a:r>
            <a:r>
              <a:rPr lang="zh-CN" altLang="en-US">
                <a:sym typeface="+mn-ea"/>
              </a:rPr>
              <a:t>判断置信度，给出一段解释性说明，并将检索的知识图谱实体事件关系列举出来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这是四类问答对</a:t>
            </a:r>
            <a:r>
              <a:rPr lang="zh-CN" altLang="en-US"/>
              <a:t>类型。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研究成果这一块主要展示事实核查问答对生成的流水线，以本页</a:t>
            </a:r>
            <a:r>
              <a:rPr lang="en-US" altLang="zh-CN"/>
              <a:t>ppt</a:t>
            </a:r>
            <a:r>
              <a:rPr lang="zh-CN" altLang="en-US"/>
              <a:t>展示的样本为例。这是经过清洗的样本数据。可以看到保留了事件</a:t>
            </a:r>
            <a:r>
              <a:rPr lang="en-US" altLang="zh-CN"/>
              <a:t>id</a:t>
            </a:r>
            <a:r>
              <a:rPr lang="zh-CN" altLang="en-US"/>
              <a:t>、文章</a:t>
            </a:r>
            <a:r>
              <a:rPr lang="en-US" altLang="zh-CN"/>
              <a:t>id</a:t>
            </a:r>
            <a:r>
              <a:rPr lang="zh-CN" altLang="en-US"/>
              <a:t>及标题和内容。下一步就是对事件样本进行关系</a:t>
            </a:r>
            <a:r>
              <a:rPr lang="zh-CN" altLang="en-US"/>
              <a:t>提取。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这是构建知识图谱对单篇文章的关系图抽取结果。这个示例来自于上页的第一篇</a:t>
            </a:r>
            <a:r>
              <a:rPr lang="zh-CN" altLang="en-US"/>
              <a:t>文章。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将单篇文章关系整合为三元组形式存储，记录关系来源文章信息，同时存储集合信息。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构建关系图后，为便于查找</a:t>
            </a:r>
            <a:r>
              <a:rPr lang="en-US" altLang="zh-CN"/>
              <a:t>claim</a:t>
            </a:r>
            <a:r>
              <a:rPr lang="zh-CN" altLang="en-US"/>
              <a:t>的相关实体，我对样本的实体进行</a:t>
            </a:r>
            <a:r>
              <a:rPr lang="zh-CN" altLang="en-US"/>
              <a:t>了索引构建，采用哈希查找可以加快图谱</a:t>
            </a:r>
            <a:r>
              <a:rPr lang="zh-CN" altLang="en-US"/>
              <a:t>检索。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接着构建</a:t>
            </a:r>
            <a:r>
              <a:rPr lang="en-US" altLang="zh-CN"/>
              <a:t>claim</a:t>
            </a:r>
            <a:r>
              <a:rPr lang="zh-CN" altLang="en-US"/>
              <a:t>，将事件样本的</a:t>
            </a:r>
            <a:r>
              <a:rPr lang="en-US" altLang="zh-CN"/>
              <a:t>summary</a:t>
            </a:r>
            <a:r>
              <a:rPr lang="zh-CN" altLang="en-US"/>
              <a:t>和文章标题拼接形成</a:t>
            </a:r>
            <a:r>
              <a:rPr lang="en-US" altLang="zh-CN"/>
              <a:t>claim</a:t>
            </a:r>
            <a:r>
              <a:rPr lang="zh-CN" altLang="en-US"/>
              <a:t>，并对</a:t>
            </a:r>
            <a:r>
              <a:rPr lang="en-US" altLang="zh-CN"/>
              <a:t>claim</a:t>
            </a:r>
            <a:r>
              <a:rPr lang="zh-CN" altLang="en-US"/>
              <a:t>进行实体</a:t>
            </a:r>
            <a:r>
              <a:rPr lang="zh-CN" altLang="en-US"/>
              <a:t>抽取。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</a:t>
            </a:r>
            <a:r>
              <a:rPr lang="en-US" altLang="zh-CN"/>
              <a:t>claim</a:t>
            </a:r>
            <a:r>
              <a:rPr lang="zh-CN" altLang="en-US"/>
              <a:t>的实体与事件样本知识图谱的实体进行对齐，为下一步图谱检索做准备。对齐的方式是首先采用精确匹配，当精确匹配无结果时采用</a:t>
            </a:r>
            <a:r>
              <a:rPr lang="en-US" altLang="zh-CN"/>
              <a:t>SequenceMatcher</a:t>
            </a:r>
            <a:r>
              <a:rPr lang="zh-CN" altLang="en-US"/>
              <a:t>进行</a:t>
            </a:r>
            <a:r>
              <a:rPr lang="zh-CN" altLang="en-US"/>
              <a:t>模糊匹配。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本页并不是步骤的结果，而是一个图谱检索的示例过程。可以看到先进行了实体对齐，然后采取一跳搜索和二跳搜索，提取邻居扩展到证据三元组</a:t>
            </a:r>
            <a:r>
              <a:rPr lang="zh-CN" altLang="en-US"/>
              <a:t>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这是基于这个样本检索得到的</a:t>
            </a:r>
            <a:r>
              <a:rPr lang="en-US" altLang="zh-CN"/>
              <a:t>11</a:t>
            </a:r>
            <a:r>
              <a:rPr lang="zh-CN" altLang="en-US"/>
              <a:t>个</a:t>
            </a:r>
            <a:r>
              <a:rPr lang="zh-CN" altLang="en-US"/>
              <a:t>相关三元组。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基于三元组对</a:t>
            </a:r>
            <a:r>
              <a:rPr lang="en-US" altLang="zh-CN"/>
              <a:t>Claim</a:t>
            </a:r>
            <a:r>
              <a:rPr lang="zh-CN" altLang="en-US"/>
              <a:t>进行事实核查，要求大模型生成</a:t>
            </a:r>
            <a:r>
              <a:rPr lang="en-US" altLang="zh-CN"/>
              <a:t>Verdict</a:t>
            </a:r>
            <a:r>
              <a:rPr lang="zh-CN" altLang="en-US"/>
              <a:t>判定、置信度和解释段落，同时要求列举出关键证据</a:t>
            </a:r>
            <a:r>
              <a:rPr lang="zh-CN" altLang="en-US"/>
              <a:t>三元组。</a:t>
            </a:r>
            <a:endParaRPr lang="zh-CN" altLang="en-US"/>
          </a:p>
          <a:p>
            <a:r>
              <a:rPr lang="zh-CN" altLang="en-US"/>
              <a:t>图中的流程是</a:t>
            </a:r>
            <a:r>
              <a:rPr lang="en-US" altLang="zh-CN"/>
              <a:t>Claim</a:t>
            </a:r>
            <a:r>
              <a:rPr lang="zh-CN" altLang="en-US"/>
              <a:t>判定解释的流程，可以看到大模型判定的依据是完全依据三元组信息，</a:t>
            </a:r>
            <a:r>
              <a:rPr lang="zh-CN" altLang="en-US"/>
              <a:t>且较有条理</a:t>
            </a:r>
            <a:r>
              <a:rPr lang="zh-CN" altLang="en-US"/>
              <a:t>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事实核查结束后，基于事实核查结果和相关三元组生成问答对，问答对分为四类。可以看到输出结果中问题与回答都较为详细且有所根据。接着对问答对的质量</a:t>
            </a:r>
            <a:r>
              <a:rPr lang="zh-CN" altLang="en-US"/>
              <a:t>进行评估。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首先是大模型自评，自评要求考察回答对事实核查结果的忠实度、回答与知识图谱的相关性和回答对问题设计的覆盖率，可以看到四类问答对的相关性普遍</a:t>
            </a:r>
            <a:r>
              <a:rPr lang="zh-CN" altLang="en-US"/>
              <a:t>较高，而忠实度和覆盖率微</a:t>
            </a:r>
            <a:r>
              <a:rPr lang="zh-CN" altLang="en-US"/>
              <a:t>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指标评估时要求计算精确率、召回率和</a:t>
            </a:r>
            <a:r>
              <a:rPr lang="en-US" altLang="zh-CN"/>
              <a:t>F1</a:t>
            </a:r>
            <a:r>
              <a:rPr lang="zh-CN" altLang="en-US"/>
              <a:t>分数。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这是前述样本示例的问答对质量的综合评估结果。第一个</a:t>
            </a:r>
            <a:r>
              <a:rPr lang="zh-CN" altLang="en-US"/>
              <a:t>表格、、、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最终输出的问答对数据结构就是这样，这里省略了一些文字性内容，将所有样本统一写入</a:t>
            </a:r>
            <a:r>
              <a:rPr lang="en-US" altLang="zh-CN"/>
              <a:t>jsonl</a:t>
            </a:r>
            <a:r>
              <a:rPr lang="zh-CN" altLang="en-US"/>
              <a:t>即可构建完整的事实核查</a:t>
            </a:r>
            <a:r>
              <a:rPr lang="zh-CN" altLang="en-US"/>
              <a:t>问答对数据集。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项目的代码结构如上，后续将会随演示视频和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文件一起打包</a:t>
            </a:r>
            <a:r>
              <a:rPr lang="zh-CN" altLang="en-US">
                <a:sym typeface="+mn-ea"/>
              </a:rPr>
              <a:t>并提交。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项目中遇到的技术难点和解决方案如表，目前均已</a:t>
            </a:r>
            <a:r>
              <a:rPr lang="zh-CN" altLang="en-US"/>
              <a:t>妥善解决。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后续的计划在技术方面主要改善的有两方面，第一是问答对生成模型的专业性，可以参考</a:t>
            </a:r>
            <a:r>
              <a:rPr lang="en-US" altLang="zh-CN"/>
              <a:t>REGULAR</a:t>
            </a:r>
            <a:r>
              <a:rPr lang="zh-CN" altLang="en-US"/>
              <a:t>的做法对问答对生成模型进行微调后再用于生成事实核查问答对。第二点击睡本项目中调用大模型</a:t>
            </a:r>
            <a:r>
              <a:rPr lang="en-US" altLang="zh-CN"/>
              <a:t>API</a:t>
            </a:r>
            <a:r>
              <a:rPr lang="zh-CN" altLang="en-US"/>
              <a:t>用量较大，可以考虑使用小模型以减少成本。在应用方面，可以考虑实现用户交互界面或者拓展到多语言事实核查领域。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这就是全部的汇报了，感谢王俊丽老师的指导，</a:t>
            </a:r>
            <a:r>
              <a:rPr lang="zh-CN" altLang="en-US"/>
              <a:t>谢谢。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思源黑体 CN Regular" panose="020B0500000000000000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思源黑体 CN Regular" panose="020B0500000000000000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思源黑体 CN Regular" panose="020B0500000000000000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Regular" panose="020B0500000000000000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Regular" panose="020B0500000000000000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Regular" panose="020B0500000000000000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黑体 CN Regular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10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5.xml"/><Relationship Id="rId6" Type="http://schemas.openxmlformats.org/officeDocument/2006/relationships/image" Target="../media/image2.png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5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92.xml"/><Relationship Id="rId20" Type="http://schemas.openxmlformats.org/officeDocument/2006/relationships/tags" Target="../tags/tag191.xml"/><Relationship Id="rId2" Type="http://schemas.openxmlformats.org/officeDocument/2006/relationships/tags" Target="../tags/tag173.xml"/><Relationship Id="rId19" Type="http://schemas.openxmlformats.org/officeDocument/2006/relationships/tags" Target="../tags/tag190.xml"/><Relationship Id="rId18" Type="http://schemas.openxmlformats.org/officeDocument/2006/relationships/tags" Target="../tags/tag189.xml"/><Relationship Id="rId17" Type="http://schemas.openxmlformats.org/officeDocument/2006/relationships/tags" Target="../tags/tag188.xml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3" Type="http://schemas.openxmlformats.org/officeDocument/2006/relationships/notesSlide" Target="../notesSlides/notesSlide13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4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9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0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1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4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5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2.xml"/><Relationship Id="rId2" Type="http://schemas.openxmlformats.org/officeDocument/2006/relationships/image" Target="../media/image19.png"/><Relationship Id="rId1" Type="http://schemas.openxmlformats.org/officeDocument/2006/relationships/tags" Target="../tags/tag2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3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5.xml"/><Relationship Id="rId2" Type="http://schemas.openxmlformats.org/officeDocument/2006/relationships/image" Target="../media/image20.png"/><Relationship Id="rId1" Type="http://schemas.openxmlformats.org/officeDocument/2006/relationships/tags" Target="../tags/tag23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0" Type="http://schemas.openxmlformats.org/officeDocument/2006/relationships/notesSlide" Target="../notesSlides/notesSlide30.xml"/><Relationship Id="rId2" Type="http://schemas.openxmlformats.org/officeDocument/2006/relationships/tags" Target="../tags/tag23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83310" y="1617980"/>
            <a:ext cx="10036810" cy="1408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i="0" u="none" strike="noStrike" cap="none" spc="0" normalizeH="0" baseline="0" dirty="0">
                <a:ln w="28575">
                  <a:noFill/>
                </a:ln>
                <a:solidFill>
                  <a:srgbClr val="E3C19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基于事件关系链的</a:t>
            </a:r>
            <a:endParaRPr kumimoji="0" lang="zh-CN" altLang="en-US" sz="5400" i="0" u="none" strike="noStrike" cap="none" spc="0" normalizeH="0" baseline="0" dirty="0">
              <a:ln w="28575">
                <a:noFill/>
              </a:ln>
              <a:solidFill>
                <a:srgbClr val="E3C19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多源新闻事实核查问答对生成</a:t>
            </a:r>
            <a:endParaRPr kumimoji="0" lang="zh-CN" altLang="en-US" sz="54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 rot="10800000">
            <a:off x="-28575" y="6240780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415540" y="3343275"/>
            <a:ext cx="73704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0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期末汇报</a:t>
            </a:r>
            <a:endParaRPr lang="zh-CN" altLang="en-US" sz="4000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2518093" y="4123055"/>
            <a:ext cx="7155815" cy="711200"/>
            <a:chOff x="3589" y="6397"/>
            <a:chExt cx="11269" cy="1120"/>
          </a:xfrm>
        </p:grpSpPr>
        <p:grpSp>
          <p:nvGrpSpPr>
            <p:cNvPr id="32" name="组合 31"/>
            <p:cNvGrpSpPr/>
            <p:nvPr/>
          </p:nvGrpSpPr>
          <p:grpSpPr>
            <a:xfrm>
              <a:off x="3589" y="6397"/>
              <a:ext cx="5258" cy="1121"/>
              <a:chOff x="3589" y="6397"/>
              <a:chExt cx="5258" cy="1121"/>
            </a:xfrm>
          </p:grpSpPr>
          <p:sp>
            <p:nvSpPr>
              <p:cNvPr id="30" name="平行四边形 29"/>
              <p:cNvSpPr/>
              <p:nvPr/>
            </p:nvSpPr>
            <p:spPr>
              <a:xfrm>
                <a:off x="3589" y="6397"/>
                <a:ext cx="5258" cy="855"/>
              </a:xfrm>
              <a:prstGeom prst="parallelogram">
                <a:avLst/>
              </a:prstGeom>
              <a:solidFill>
                <a:srgbClr val="525E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485" y="6538"/>
                <a:ext cx="3465" cy="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汇报人：</a:t>
                </a: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徐韵曦</a:t>
                </a:r>
                <a:endParaRPr kumimoji="0" lang="zh-CN" altLang="en-US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9600" y="6397"/>
              <a:ext cx="5258" cy="1121"/>
              <a:chOff x="3589" y="6397"/>
              <a:chExt cx="5258" cy="1121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3589" y="6397"/>
                <a:ext cx="5258" cy="855"/>
              </a:xfrm>
              <a:prstGeom prst="parallelogram">
                <a:avLst/>
              </a:prstGeom>
              <a:solidFill>
                <a:srgbClr val="E3C1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027" y="6538"/>
                <a:ext cx="4484" cy="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汇报时间：</a:t>
                </a:r>
                <a:r>
                  <a:rPr kumimoji="0" lang="en-US" altLang="zh-CN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2026.6.15</a:t>
                </a:r>
                <a:endPara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3905" cy="1856740"/>
            <a:chOff x="0" y="0"/>
            <a:chExt cx="19203" cy="2739"/>
          </a:xfrm>
        </p:grpSpPr>
        <p:sp>
          <p:nvSpPr>
            <p:cNvPr id="13" name="矩形 12"/>
            <p:cNvSpPr/>
            <p:nvPr/>
          </p:nvSpPr>
          <p:spPr>
            <a:xfrm>
              <a:off x="0" y="1975"/>
              <a:ext cx="19199" cy="764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0"/>
              <a:ext cx="19203" cy="2358"/>
            </a:xfrm>
            <a:prstGeom prst="rect">
              <a:avLst/>
            </a:pr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 descr="7b0a20202020227461726765744d6f64756c65223a202270726f636573734f6e6c696e65466f6e7473220a7d0a"/>
          <p:cNvSpPr txBox="1"/>
          <p:nvPr/>
        </p:nvSpPr>
        <p:spPr>
          <a:xfrm>
            <a:off x="960755" y="381000"/>
            <a:ext cx="22656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Regular" panose="020B0500000000000000" pitchFamily="34" charset="-122"/>
              </a:rPr>
              <a:t>目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Regular" panose="020B0500000000000000" pitchFamily="34" charset="-122"/>
              </a:rPr>
              <a:t>  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Regular" panose="020B0500000000000000" pitchFamily="34" charset="-122"/>
              </a:rPr>
              <a:t>录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Regular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405505" y="627380"/>
            <a:ext cx="2515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CONTENT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平行四边形 2"/>
          <p:cNvSpPr/>
          <p:nvPr>
            <p:custDataLst>
              <p:tags r:id="rId1"/>
            </p:custDataLst>
          </p:nvPr>
        </p:nvSpPr>
        <p:spPr>
          <a:xfrm>
            <a:off x="1320800" y="2926715"/>
            <a:ext cx="1029970" cy="812800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>
            <p:custDataLst>
              <p:tags r:id="rId2"/>
            </p:custDataLst>
          </p:nvPr>
        </p:nvSpPr>
        <p:spPr>
          <a:xfrm>
            <a:off x="2251075" y="3002280"/>
            <a:ext cx="3488055" cy="812800"/>
          </a:xfrm>
          <a:prstGeom prst="parallelogram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"/>
            </p:custDataLst>
          </p:nvPr>
        </p:nvSpPr>
        <p:spPr>
          <a:xfrm>
            <a:off x="2488565" y="3117215"/>
            <a:ext cx="3013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5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研究背景与意义</a:t>
            </a:r>
            <a:endParaRPr kumimoji="0" lang="zh-CN" altLang="en-US" sz="2800" b="0" i="0" u="none" strike="noStrike" kern="1200" cap="none" spc="15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14" name="平行四边形 13"/>
          <p:cNvSpPr/>
          <p:nvPr>
            <p:custDataLst>
              <p:tags r:id="rId4"/>
            </p:custDataLst>
          </p:nvPr>
        </p:nvSpPr>
        <p:spPr>
          <a:xfrm>
            <a:off x="1206500" y="3002280"/>
            <a:ext cx="1029970" cy="812800"/>
          </a:xfrm>
          <a:prstGeom prst="parallelogram">
            <a:avLst/>
          </a:prstGeom>
          <a:solidFill>
            <a:srgbClr val="E3C19E"/>
          </a:solidFill>
          <a:ln>
            <a:solidFill>
              <a:srgbClr val="E3C1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1233805" y="3117215"/>
            <a:ext cx="975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spc="15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kumimoji="0" lang="en-US" altLang="zh-CN" sz="3200" b="0" i="0" spc="15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6"/>
            </p:custDataLst>
          </p:nvPr>
        </p:nvSpPr>
        <p:spPr>
          <a:xfrm>
            <a:off x="6515100" y="2920365"/>
            <a:ext cx="1029970" cy="812800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>
            <a:off x="7445375" y="2995930"/>
            <a:ext cx="3488055" cy="812800"/>
          </a:xfrm>
          <a:prstGeom prst="parallelogram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7682865" y="3110865"/>
            <a:ext cx="3013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5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研究技术路线</a:t>
            </a:r>
            <a:endParaRPr kumimoji="0" lang="zh-CN" altLang="en-US" sz="2800" b="0" i="0" u="none" strike="noStrike" kern="1200" cap="none" spc="15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17" name="平行四边形 16"/>
          <p:cNvSpPr/>
          <p:nvPr>
            <p:custDataLst>
              <p:tags r:id="rId9"/>
            </p:custDataLst>
          </p:nvPr>
        </p:nvSpPr>
        <p:spPr>
          <a:xfrm>
            <a:off x="6400800" y="2995930"/>
            <a:ext cx="1029970" cy="812800"/>
          </a:xfrm>
          <a:prstGeom prst="parallelogram">
            <a:avLst/>
          </a:prstGeom>
          <a:solidFill>
            <a:srgbClr val="E3C19E"/>
          </a:solidFill>
          <a:ln>
            <a:solidFill>
              <a:srgbClr val="E3C1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428105" y="3110865"/>
            <a:ext cx="975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spc="15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kumimoji="0" lang="en-US" altLang="zh-CN" sz="3200" b="0" i="0" spc="15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9" name="平行四边形 68"/>
          <p:cNvSpPr/>
          <p:nvPr>
            <p:custDataLst>
              <p:tags r:id="rId11"/>
            </p:custDataLst>
          </p:nvPr>
        </p:nvSpPr>
        <p:spPr>
          <a:xfrm>
            <a:off x="1320800" y="4568825"/>
            <a:ext cx="1029970" cy="812800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平行四边形 70"/>
          <p:cNvSpPr/>
          <p:nvPr>
            <p:custDataLst>
              <p:tags r:id="rId12"/>
            </p:custDataLst>
          </p:nvPr>
        </p:nvSpPr>
        <p:spPr>
          <a:xfrm>
            <a:off x="2251075" y="4644390"/>
            <a:ext cx="3488055" cy="812800"/>
          </a:xfrm>
          <a:prstGeom prst="parallelogram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>
            <p:custDataLst>
              <p:tags r:id="rId13"/>
            </p:custDataLst>
          </p:nvPr>
        </p:nvSpPr>
        <p:spPr>
          <a:xfrm>
            <a:off x="2488565" y="4759325"/>
            <a:ext cx="3013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5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实验结果与分析</a:t>
            </a:r>
            <a:endParaRPr kumimoji="0" lang="zh-CN" altLang="en-US" sz="2800" b="0" i="0" u="none" strike="noStrike" kern="1200" cap="none" spc="15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74" name="平行四边形 73"/>
          <p:cNvSpPr/>
          <p:nvPr>
            <p:custDataLst>
              <p:tags r:id="rId14"/>
            </p:custDataLst>
          </p:nvPr>
        </p:nvSpPr>
        <p:spPr>
          <a:xfrm>
            <a:off x="1206500" y="4644390"/>
            <a:ext cx="1029970" cy="812800"/>
          </a:xfrm>
          <a:prstGeom prst="parallelogram">
            <a:avLst/>
          </a:prstGeom>
          <a:solidFill>
            <a:srgbClr val="E3C19E"/>
          </a:solidFill>
          <a:ln>
            <a:solidFill>
              <a:srgbClr val="E3C1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15"/>
            </p:custDataLst>
          </p:nvPr>
        </p:nvSpPr>
        <p:spPr>
          <a:xfrm>
            <a:off x="1233805" y="4759325"/>
            <a:ext cx="975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spc="15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kumimoji="0" lang="en-US" altLang="zh-CN" sz="3200" b="0" i="0" spc="15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7" name="平行四边形 76"/>
          <p:cNvSpPr/>
          <p:nvPr>
            <p:custDataLst>
              <p:tags r:id="rId16"/>
            </p:custDataLst>
          </p:nvPr>
        </p:nvSpPr>
        <p:spPr>
          <a:xfrm>
            <a:off x="6515100" y="4562475"/>
            <a:ext cx="1029970" cy="812800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平行四边形 78"/>
          <p:cNvSpPr/>
          <p:nvPr>
            <p:custDataLst>
              <p:tags r:id="rId17"/>
            </p:custDataLst>
          </p:nvPr>
        </p:nvSpPr>
        <p:spPr>
          <a:xfrm>
            <a:off x="7445375" y="4638040"/>
            <a:ext cx="3488055" cy="812800"/>
          </a:xfrm>
          <a:prstGeom prst="parallelogram">
            <a:avLst/>
          </a:prstGeom>
          <a:noFill/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>
            <p:custDataLst>
              <p:tags r:id="rId18"/>
            </p:custDataLst>
          </p:nvPr>
        </p:nvSpPr>
        <p:spPr>
          <a:xfrm>
            <a:off x="7682865" y="4752975"/>
            <a:ext cx="3013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5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总结与展望</a:t>
            </a:r>
            <a:endParaRPr kumimoji="0" lang="zh-CN" altLang="en-US" sz="2800" b="0" i="0" u="none" strike="noStrike" kern="1200" cap="none" spc="15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82" name="平行四边形 81"/>
          <p:cNvSpPr/>
          <p:nvPr>
            <p:custDataLst>
              <p:tags r:id="rId19"/>
            </p:custDataLst>
          </p:nvPr>
        </p:nvSpPr>
        <p:spPr>
          <a:xfrm>
            <a:off x="6400800" y="4638040"/>
            <a:ext cx="1029970" cy="812800"/>
          </a:xfrm>
          <a:prstGeom prst="parallelogram">
            <a:avLst/>
          </a:prstGeom>
          <a:solidFill>
            <a:srgbClr val="E3C19E"/>
          </a:solidFill>
          <a:ln>
            <a:solidFill>
              <a:srgbClr val="E3C1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6428105" y="4752975"/>
            <a:ext cx="975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spc="15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kumimoji="0" lang="en-US" altLang="zh-CN" sz="3200" b="0" i="0" spc="15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平行四边形 45"/>
          <p:cNvSpPr/>
          <p:nvPr/>
        </p:nvSpPr>
        <p:spPr>
          <a:xfrm>
            <a:off x="4839335" y="1771650"/>
            <a:ext cx="2785745" cy="54292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 rot="10800000">
            <a:off x="0" y="6250305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00263" y="2679065"/>
            <a:ext cx="7897495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研究背景</a:t>
            </a: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与意义</a:t>
            </a:r>
            <a:endParaRPr kumimoji="0" lang="zh-CN" altLang="en-US" sz="66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98850" y="3984625"/>
            <a:ext cx="51098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Background  &amp;  </a:t>
            </a:r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purposes </a:t>
            </a:r>
            <a:endParaRPr lang="en-US" altLang="zh-CN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4" name="平行四边形 33"/>
          <p:cNvSpPr/>
          <p:nvPr/>
        </p:nvSpPr>
        <p:spPr>
          <a:xfrm>
            <a:off x="4704715" y="1877695"/>
            <a:ext cx="2785745" cy="542925"/>
          </a:xfrm>
          <a:prstGeom prst="parallelogram">
            <a:avLst/>
          </a:prstGeom>
          <a:solidFill>
            <a:srgbClr val="E3C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705350" y="1906905"/>
            <a:ext cx="2847340" cy="622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PART 01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145915" y="205740"/>
            <a:ext cx="3900170" cy="1113790"/>
            <a:chOff x="6529" y="324"/>
            <a:chExt cx="614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529" y="324"/>
              <a:ext cx="614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研究背景及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意义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BACKGROUND  &amp;  PURPOSES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7" name="矩形 36"/>
          <p:cNvSpPr/>
          <p:nvPr>
            <p:custDataLst>
              <p:tags r:id="rId1"/>
            </p:custDataLst>
          </p:nvPr>
        </p:nvSpPr>
        <p:spPr>
          <a:xfrm>
            <a:off x="831215" y="1624330"/>
            <a:ext cx="2952750" cy="3068955"/>
          </a:xfrm>
          <a:prstGeom prst="rect">
            <a:avLst/>
          </a:prstGeom>
          <a:noFill/>
          <a:ln>
            <a:solidFill>
              <a:srgbClr val="525E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平行四边形 37"/>
          <p:cNvSpPr/>
          <p:nvPr>
            <p:custDataLst>
              <p:tags r:id="rId2"/>
            </p:custDataLst>
          </p:nvPr>
        </p:nvSpPr>
        <p:spPr>
          <a:xfrm>
            <a:off x="1112520" y="4443730"/>
            <a:ext cx="2872740" cy="61150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5"/>
          <p:cNvSpPr txBox="1"/>
          <p:nvPr>
            <p:custDataLst>
              <p:tags r:id="rId3"/>
            </p:custDataLst>
          </p:nvPr>
        </p:nvSpPr>
        <p:spPr>
          <a:xfrm>
            <a:off x="981075" y="1875790"/>
            <a:ext cx="2783840" cy="23583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互联网信息爆炸且真假难辨，虚假新闻误导公众认知，社会秩序、公共健康、政治稳定易被干扰，而公众缺乏有效工具辨别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多远猫短信息。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1" name="文本框 4"/>
          <p:cNvSpPr txBox="1"/>
          <p:nvPr>
            <p:custDataLst>
              <p:tags r:id="rId4"/>
            </p:custDataLst>
          </p:nvPr>
        </p:nvSpPr>
        <p:spPr>
          <a:xfrm>
            <a:off x="845820" y="4540250"/>
            <a:ext cx="331279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虚假信息泛滥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4447540" y="2656205"/>
            <a:ext cx="2952750" cy="3100705"/>
          </a:xfrm>
          <a:prstGeom prst="rect">
            <a:avLst/>
          </a:prstGeom>
          <a:noFill/>
          <a:ln>
            <a:solidFill>
              <a:srgbClr val="E3C1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"/>
          <p:cNvSpPr txBox="1"/>
          <p:nvPr>
            <p:custDataLst>
              <p:tags r:id="rId6"/>
            </p:custDataLst>
          </p:nvPr>
        </p:nvSpPr>
        <p:spPr>
          <a:xfrm>
            <a:off x="4597400" y="3159125"/>
            <a:ext cx="2783840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1. </a:t>
            </a:r>
            <a:r>
              <a:rPr kumimoji="0" lang="zh-CN" altLang="en-US" sz="1600" b="1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忽略多元性：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现实时间</a:t>
            </a:r>
            <a:r>
              <a:rPr kumimoji="0" lang="en-US" altLang="zh-CN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 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有多篇不同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来源报道</a:t>
            </a:r>
            <a:endParaRPr kumimoji="0" lang="zh-CN" altLang="en-US" sz="1600" b="0" i="0" u="none" strike="noStrike" kern="1200" cap="none" spc="120" normalizeH="0" baseline="0" noProof="0" dirty="0" err="1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2. 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缺乏矛盾检测：无法识别报道间的事实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冲突</a:t>
            </a:r>
            <a:endParaRPr kumimoji="0" lang="zh-CN" altLang="en-US" sz="1600" b="0" i="0" u="none" strike="noStrike" kern="1200" cap="none" spc="120" normalizeH="0" baseline="0" noProof="0" dirty="0" err="1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3. 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可解释性不足：仅输出判断结果，</a:t>
            </a:r>
            <a:r>
              <a:rPr kumimoji="0" lang="zh-CN" altLang="en-US" sz="1600" b="0" i="0" u="none" strike="noStrike" kern="1200" cap="none" spc="12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缺乏推理过程</a:t>
            </a:r>
            <a:endParaRPr kumimoji="0" lang="zh-CN" altLang="en-US" sz="1600" b="0" i="0" u="none" strike="noStrike" kern="1200" cap="none" spc="120" normalizeH="0" baseline="0" noProof="0" dirty="0" err="1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grpSp>
        <p:nvGrpSpPr>
          <p:cNvPr id="55" name="组合 54"/>
          <p:cNvGrpSpPr/>
          <p:nvPr>
            <p:custDataLst>
              <p:tags r:id="rId7"/>
            </p:custDataLst>
          </p:nvPr>
        </p:nvGrpSpPr>
        <p:grpSpPr>
          <a:xfrm>
            <a:off x="4549140" y="2320290"/>
            <a:ext cx="3312160" cy="610870"/>
            <a:chOff x="5972" y="6743"/>
            <a:chExt cx="5216" cy="962"/>
          </a:xfrm>
        </p:grpSpPr>
        <p:sp>
          <p:nvSpPr>
            <p:cNvPr id="52" name="平行四边形 51"/>
            <p:cNvSpPr/>
            <p:nvPr>
              <p:custDataLst>
                <p:tags r:id="rId8"/>
              </p:custDataLst>
            </p:nvPr>
          </p:nvSpPr>
          <p:spPr>
            <a:xfrm>
              <a:off x="6392" y="6743"/>
              <a:ext cx="4524" cy="963"/>
            </a:xfrm>
            <a:prstGeom prst="parallelogram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4"/>
            <p:cNvSpPr txBox="1"/>
            <p:nvPr>
              <p:custDataLst>
                <p:tags r:id="rId9"/>
              </p:custDataLst>
            </p:nvPr>
          </p:nvSpPr>
          <p:spPr>
            <a:xfrm>
              <a:off x="5972" y="6895"/>
              <a:ext cx="5217" cy="630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现有工作局限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  <p:sp>
        <p:nvSpPr>
          <p:cNvPr id="57" name="矩形 56"/>
          <p:cNvSpPr/>
          <p:nvPr>
            <p:custDataLst>
              <p:tags r:id="rId10"/>
            </p:custDataLst>
          </p:nvPr>
        </p:nvSpPr>
        <p:spPr>
          <a:xfrm>
            <a:off x="8150860" y="1623695"/>
            <a:ext cx="2952750" cy="3069590"/>
          </a:xfrm>
          <a:prstGeom prst="rect">
            <a:avLst/>
          </a:prstGeom>
          <a:noFill/>
          <a:ln>
            <a:solidFill>
              <a:srgbClr val="525E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平行四边形 57"/>
          <p:cNvSpPr/>
          <p:nvPr>
            <p:custDataLst>
              <p:tags r:id="rId11"/>
            </p:custDataLst>
          </p:nvPr>
        </p:nvSpPr>
        <p:spPr>
          <a:xfrm>
            <a:off x="8432165" y="4443730"/>
            <a:ext cx="2872740" cy="61150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"/>
          <p:cNvSpPr txBox="1"/>
          <p:nvPr>
            <p:custDataLst>
              <p:tags r:id="rId12"/>
            </p:custDataLst>
          </p:nvPr>
        </p:nvSpPr>
        <p:spPr>
          <a:xfrm>
            <a:off x="8300720" y="1885950"/>
            <a:ext cx="2783840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构建一个能够自动生成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“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多源新闻交叉验证问题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”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的系统，利用不同来源新闻报道之间的事件关系差异，生成有助于识别事实冲突的验证性问题。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0" name="文本框 4"/>
          <p:cNvSpPr txBox="1"/>
          <p:nvPr>
            <p:custDataLst>
              <p:tags r:id="rId13"/>
            </p:custDataLst>
          </p:nvPr>
        </p:nvSpPr>
        <p:spPr>
          <a:xfrm>
            <a:off x="8165465" y="4540250"/>
            <a:ext cx="331279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研究定位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与目标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6" name="椭圆 55"/>
          <p:cNvSpPr/>
          <p:nvPr>
            <p:custDataLst>
              <p:tags r:id="rId1"/>
            </p:custDataLst>
          </p:nvPr>
        </p:nvSpPr>
        <p:spPr>
          <a:xfrm>
            <a:off x="4366093" y="2009760"/>
            <a:ext cx="3486483" cy="3486483"/>
          </a:xfrm>
          <a:prstGeom prst="ellipse">
            <a:avLst/>
          </a:prstGeom>
          <a:solidFill>
            <a:srgbClr val="EDE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40" name="文本框 36"/>
          <p:cNvSpPr txBox="1"/>
          <p:nvPr>
            <p:custDataLst>
              <p:tags r:id="rId2"/>
            </p:custDataLst>
          </p:nvPr>
        </p:nvSpPr>
        <p:spPr>
          <a:xfrm>
            <a:off x="1870075" y="2417763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多源交叉验证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范式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1" name="文本框 37"/>
          <p:cNvSpPr txBox="1"/>
          <p:nvPr>
            <p:custDataLst>
              <p:tags r:id="rId3"/>
            </p:custDataLst>
          </p:nvPr>
        </p:nvSpPr>
        <p:spPr>
          <a:xfrm>
            <a:off x="414654" y="2833053"/>
            <a:ext cx="3956686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defRPr/>
            </a:pP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从单源验证扩展到多源交叉验证</a:t>
            </a:r>
            <a:endParaRPr kumimoji="0" lang="en-US" altLang="zh-CN" sz="1600" b="0" i="0" u="none" strike="noStrike" cap="none" spc="12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r">
              <a:lnSpc>
                <a:spcPct val="150000"/>
              </a:lnSpc>
              <a:defRPr/>
            </a:pP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利用报道间事件关系差异识别矛盾</a:t>
            </a:r>
            <a:endParaRPr kumimoji="0" lang="zh-CN" altLang="en-US" sz="1600" b="0" i="0" u="none" strike="noStrike" cap="none" spc="12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2" name="文本框 40"/>
          <p:cNvSpPr txBox="1"/>
          <p:nvPr>
            <p:custDataLst>
              <p:tags r:id="rId4"/>
            </p:custDataLst>
          </p:nvPr>
        </p:nvSpPr>
        <p:spPr>
          <a:xfrm>
            <a:off x="1870710" y="3886518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多维问答对自动生成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3" name="文本框 41"/>
          <p:cNvSpPr txBox="1"/>
          <p:nvPr>
            <p:custDataLst>
              <p:tags r:id="rId5"/>
            </p:custDataLst>
          </p:nvPr>
        </p:nvSpPr>
        <p:spPr>
          <a:xfrm>
            <a:off x="176530" y="4302125"/>
            <a:ext cx="4196080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理解型、证据型、反事实型、批判型</a:t>
            </a:r>
            <a:endParaRPr kumimoji="0" lang="en-US" altLang="zh-CN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r">
              <a:lnSpc>
                <a:spcPct val="150000"/>
              </a:lnSpc>
              <a:defRPr/>
            </a:pP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REGULAR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框架自动化质量评估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6"/>
            </p:custDataLst>
          </p:nvPr>
        </p:nvSpPr>
        <p:spPr>
          <a:xfrm>
            <a:off x="7811135" y="3875088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端到端可解释流水线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7811136" y="4290378"/>
            <a:ext cx="3955416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完整的数据处理</a:t>
            </a:r>
            <a:r>
              <a:rPr kumimoji="0" lang="en-US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→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图谱构建</a:t>
            </a:r>
            <a:r>
              <a:rPr kumimoji="0" lang="en-US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→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检索</a:t>
            </a:r>
            <a:r>
              <a:rPr kumimoji="0" lang="en-US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→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核查</a:t>
            </a:r>
            <a:r>
              <a:rPr kumimoji="0" lang="en-US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→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QA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生成流程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6" name="文本框 46"/>
          <p:cNvSpPr txBox="1"/>
          <p:nvPr>
            <p:custDataLst>
              <p:tags r:id="rId8"/>
            </p:custDataLst>
          </p:nvPr>
        </p:nvSpPr>
        <p:spPr>
          <a:xfrm>
            <a:off x="7811135" y="2369503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Graph RAG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图检索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7" name="文本框 47"/>
          <p:cNvSpPr txBox="1"/>
          <p:nvPr>
            <p:custDataLst>
              <p:tags r:id="rId9"/>
            </p:custDataLst>
          </p:nvPr>
        </p:nvSpPr>
        <p:spPr>
          <a:xfrm>
            <a:off x="7811136" y="2784793"/>
            <a:ext cx="3955416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构建结构化事件关系图</a:t>
            </a:r>
            <a:endParaRPr kumimoji="0" lang="en-US" altLang="zh-CN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实现精确匹配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+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模糊匹配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+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多跳检索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4" name="矩形: 圆角 1"/>
          <p:cNvSpPr/>
          <p:nvPr>
            <p:custDataLst>
              <p:tags r:id="rId10"/>
            </p:custDataLst>
          </p:nvPr>
        </p:nvSpPr>
        <p:spPr>
          <a:xfrm>
            <a:off x="4805679" y="2425216"/>
            <a:ext cx="1186815" cy="1186815"/>
          </a:xfrm>
          <a:prstGeom prst="rect">
            <a:avLst/>
          </a:prstGeom>
          <a:solidFill>
            <a:srgbClr val="E3C19E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矩形: 圆角 2"/>
          <p:cNvSpPr/>
          <p:nvPr>
            <p:custDataLst>
              <p:tags r:id="rId11"/>
            </p:custDataLst>
          </p:nvPr>
        </p:nvSpPr>
        <p:spPr>
          <a:xfrm>
            <a:off x="6225539" y="2425216"/>
            <a:ext cx="1186815" cy="1186815"/>
          </a:xfrm>
          <a:prstGeom prst="rect">
            <a:avLst/>
          </a:prstGeom>
          <a:solidFill>
            <a:srgbClr val="525E8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矩形: 圆角 7"/>
          <p:cNvSpPr/>
          <p:nvPr>
            <p:custDataLst>
              <p:tags r:id="rId12"/>
            </p:custDataLst>
          </p:nvPr>
        </p:nvSpPr>
        <p:spPr>
          <a:xfrm>
            <a:off x="4805679" y="3893971"/>
            <a:ext cx="1186815" cy="1186815"/>
          </a:xfrm>
          <a:prstGeom prst="rect">
            <a:avLst/>
          </a:prstGeom>
          <a:solidFill>
            <a:srgbClr val="525E8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矩形: 圆角 8"/>
          <p:cNvSpPr/>
          <p:nvPr>
            <p:custDataLst>
              <p:tags r:id="rId13"/>
            </p:custDataLst>
          </p:nvPr>
        </p:nvSpPr>
        <p:spPr>
          <a:xfrm>
            <a:off x="6226174" y="3893971"/>
            <a:ext cx="1186815" cy="1186815"/>
          </a:xfrm>
          <a:prstGeom prst="rect">
            <a:avLst/>
          </a:prstGeom>
          <a:solidFill>
            <a:srgbClr val="E3C19E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922836" y="2695458"/>
            <a:ext cx="952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6343331" y="2695458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922836" y="4164213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6343331" y="4164213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36975" y="205740"/>
            <a:ext cx="4776470" cy="1113790"/>
            <a:chOff x="5885" y="324"/>
            <a:chExt cx="7522" cy="1754"/>
          </a:xfrm>
        </p:grpSpPr>
        <p:sp>
          <p:nvSpPr>
            <p:cNvPr id="3" name="文本框 2"/>
            <p:cNvSpPr txBox="1"/>
            <p:nvPr/>
          </p:nvSpPr>
          <p:spPr>
            <a:xfrm>
              <a:off x="5885" y="324"/>
              <a:ext cx="75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研究背景及意义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 - 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创新点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BACKGROUND  &amp;  PURPOSES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平行四边形 45"/>
          <p:cNvSpPr/>
          <p:nvPr/>
        </p:nvSpPr>
        <p:spPr>
          <a:xfrm>
            <a:off x="4839335" y="1771650"/>
            <a:ext cx="2785745" cy="54292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 rot="10800000">
            <a:off x="0" y="6250305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00263" y="2679065"/>
            <a:ext cx="7897495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spc="15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研究技术路线</a:t>
            </a:r>
            <a:endParaRPr kumimoji="0" lang="zh-CN" altLang="en-US" sz="66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98850" y="3984625"/>
            <a:ext cx="51098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METHODS OF RESEARCH</a:t>
            </a:r>
            <a:endParaRPr lang="en-US" altLang="zh-CN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704715" y="1877695"/>
            <a:ext cx="2847975" cy="651510"/>
            <a:chOff x="4026" y="6397"/>
            <a:chExt cx="4485" cy="1026"/>
          </a:xfrm>
        </p:grpSpPr>
        <p:sp>
          <p:nvSpPr>
            <p:cNvPr id="34" name="平行四边形 33"/>
            <p:cNvSpPr/>
            <p:nvPr/>
          </p:nvSpPr>
          <p:spPr>
            <a:xfrm>
              <a:off x="4026" y="6397"/>
              <a:ext cx="4387" cy="855"/>
            </a:xfrm>
            <a:prstGeom prst="parallelogram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027" y="6443"/>
              <a:ext cx="4484" cy="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PART 0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2</a:t>
              </a: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145915" y="205740"/>
            <a:ext cx="3900170" cy="1113790"/>
            <a:chOff x="6529" y="324"/>
            <a:chExt cx="614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529" y="324"/>
              <a:ext cx="614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mermaid-diagram-2026-06-11-192402"/>
          <p:cNvPicPr>
            <a:picLocks noChangeAspect="1"/>
          </p:cNvPicPr>
          <p:nvPr/>
        </p:nvPicPr>
        <p:blipFill>
          <a:blip r:embed="rId1">
            <a:clrChange>
              <a:clrFrom>
                <a:srgbClr val="020817">
                  <a:alpha val="100000"/>
                </a:srgbClr>
              </a:clrFrom>
              <a:clrTo>
                <a:srgbClr val="02081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715" y="1176020"/>
            <a:ext cx="4264025" cy="5518785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6426835" y="1447165"/>
            <a:ext cx="4916170" cy="5069840"/>
            <a:chOff x="10921" y="1791"/>
            <a:chExt cx="7742" cy="7984"/>
          </a:xfrm>
        </p:grpSpPr>
        <p:sp>
          <p:nvSpPr>
            <p:cNvPr id="3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10921" y="6266"/>
              <a:ext cx="7741" cy="14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对</a:t>
              </a:r>
              <a:r>
                <a:rPr kumimoji="0" lang="en-US" altLang="zh-CN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Claim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抽取实体，与知识图谱节点对齐，利用图检索并结合大语言模型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打分进行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事实核查。</a:t>
              </a:r>
              <a:endPara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endParaRPr>
            </a:p>
          </p:txBody>
        </p:sp>
        <p:grpSp>
          <p:nvGrpSpPr>
            <p:cNvPr id="12" name="组合 11"/>
            <p:cNvGrpSpPr/>
            <p:nvPr>
              <p:custDataLst>
                <p:tags r:id="rId4"/>
              </p:custDataLst>
            </p:nvPr>
          </p:nvGrpSpPr>
          <p:grpSpPr>
            <a:xfrm>
              <a:off x="10921" y="1791"/>
              <a:ext cx="7742" cy="7984"/>
              <a:chOff x="10921" y="1903"/>
              <a:chExt cx="7742" cy="7984"/>
            </a:xfrm>
          </p:grpSpPr>
          <p:sp>
            <p:nvSpPr>
              <p:cNvPr id="35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921" y="2428"/>
                <a:ext cx="7478" cy="158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选取</a:t>
                </a:r>
                <a:r>
                  <a:rPr kumimoji="0" lang="en-US" altLang="zh-CN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WCEP</a:t>
                </a: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数据集进行数据清洗，去除冗余标签，仅保留事件名称及所属文章标题、</a:t>
                </a: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文本内容。</a:t>
                </a:r>
                <a:endPara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61" name="文本框 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921" y="1903"/>
                <a:ext cx="5217" cy="630"/>
              </a:xfrm>
              <a:prstGeom prst="round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25E84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数据处理</a:t>
                </a:r>
                <a:endPara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525E84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  <p:sp>
            <p:nvSpPr>
              <p:cNvPr id="33" name="文本框 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921" y="4394"/>
                <a:ext cx="7742" cy="1508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利用大语言模型逐事件逐文章提取节点及关系，构建知识图谱并转换为三元组，保存</a:t>
                </a: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实体索引。</a:t>
                </a:r>
                <a:endPara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34" name="文本框 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921" y="3933"/>
                <a:ext cx="5217" cy="630"/>
              </a:xfrm>
              <a:prstGeom prst="round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C19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构建知识图谱</a:t>
                </a:r>
                <a:endPara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E3C19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  <p:sp>
            <p:nvSpPr>
              <p:cNvPr id="37" name="文本框 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0921" y="5885"/>
                <a:ext cx="5217" cy="630"/>
              </a:xfrm>
              <a:prstGeom prst="round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事实核查</a:t>
                </a:r>
                <a:endPara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921" y="8447"/>
                <a:ext cx="7642" cy="144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通过提示词工程对事实核查结果进行多角度问题设计并构建答案，采用</a:t>
                </a:r>
                <a:r>
                  <a:rPr kumimoji="0" lang="en-US" altLang="zh-CN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REGULAR</a:t>
                </a: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方法评估</a:t>
                </a:r>
                <a:r>
                  <a:rPr kumimoji="0" lang="zh-CN" altLang="en-US" sz="1600" b="0" i="0" u="none" strike="noStrike" kern="1200" cap="none" spc="120" normalizeH="0" baseline="0" noProof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cs"/>
                    <a:sym typeface="+mn-ea"/>
                  </a:rPr>
                  <a:t>质量。</a:t>
                </a:r>
                <a:endPara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11" name="文本框 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921" y="7922"/>
                <a:ext cx="5217" cy="630"/>
              </a:xfrm>
              <a:prstGeom prst="round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问答对生成</a:t>
                </a:r>
                <a:endPara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</p:grpSp>
      </p:grp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942715" y="205740"/>
            <a:ext cx="4347210" cy="1113790"/>
            <a:chOff x="6209" y="324"/>
            <a:chExt cx="6846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209" y="324"/>
              <a:ext cx="6846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数据集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 rot="0">
            <a:off x="408940" y="1550670"/>
            <a:ext cx="3889375" cy="4547870"/>
            <a:chOff x="10921" y="1903"/>
            <a:chExt cx="7742" cy="7162"/>
          </a:xfrm>
        </p:grpSpPr>
        <p:sp>
          <p:nvSpPr>
            <p:cNvPr id="35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10921" y="2428"/>
              <a:ext cx="7478" cy="41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spc="12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WCEP（Wikipedia Current Events Portal，维基百科当前事件门户数据集）是一个专门面向多源新闻事件分析的大规模数据集。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每个样本包含多篇同一事件的不同媒体报道，元数据包括标题、事件、来源、摘要、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事件向量。</a:t>
              </a:r>
              <a:endPara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endParaRPr>
            </a:p>
          </p:txBody>
        </p:sp>
        <p:sp>
          <p:nvSpPr>
            <p:cNvPr id="61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0921" y="1903"/>
              <a:ext cx="5217" cy="630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525E84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数据集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525E84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WCEP</a:t>
              </a: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3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10921" y="7557"/>
              <a:ext cx="7742" cy="150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由于知识图谱构建及问答对生成重点关注事件下的文本信息，因而清洗掉了多余元数据，便于建立</a:t>
              </a:r>
              <a:r>
                <a:rPr kumimoji="0" lang="zh-CN" altLang="en-US" sz="1600" b="0" i="0" u="none" strike="noStrike" kern="1200" cap="none" spc="12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  <a:sym typeface="+mn-ea"/>
                </a:rPr>
                <a:t>知识图谱。</a:t>
              </a:r>
              <a:endPara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endParaRPr>
            </a:p>
          </p:txBody>
        </p:sp>
        <p:sp>
          <p:nvSpPr>
            <p:cNvPr id="34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10921" y="7096"/>
              <a:ext cx="5217" cy="630"/>
            </a:xfrm>
            <a:prstGeom prst="round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E3C19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数据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E3C19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预处理</a:t>
              </a:r>
              <a:endPara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l="2137" t="8778" r="5967" b="3370"/>
          <a:stretch>
            <a:fillRect/>
          </a:stretch>
        </p:blipFill>
        <p:spPr>
          <a:xfrm>
            <a:off x="4787265" y="1550670"/>
            <a:ext cx="6859270" cy="52565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4670" y="2096135"/>
            <a:ext cx="11212195" cy="4255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知识图谱构建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5"/>
          <p:cNvSpPr txBox="1"/>
          <p:nvPr>
            <p:custDataLst>
              <p:tags r:id="rId1"/>
            </p:custDataLst>
          </p:nvPr>
        </p:nvSpPr>
        <p:spPr>
          <a:xfrm>
            <a:off x="541655" y="2089150"/>
            <a:ext cx="11219180" cy="422719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节点类型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(Node Types):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ENTITY: PERSON, ORGANIZATION, LOCATION, CONCEPT, OBJECT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EVENT: ACTION, STATE_CHANGE, PROCESS, PHENOMENON  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TIME: TIME_POINT, TIME_INTERVAL, DATE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关系类型</a:t>
            </a:r>
            <a:r>
              <a:rPr kumimoji="0" lang="en-US" altLang="zh-CN" sz="160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(Relationship Types):</a:t>
            </a:r>
            <a:endParaRPr kumimoji="0" lang="en-US" altLang="zh-CN" sz="160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TIER 1 - 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严格类型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TEMPORAL: BEFORE, AFTER, DURING, SIMULTANEOUS, HAPPENS_AT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CAUSAL: CAUSES, PREVENTS, ENABLES, TRIGGERS, LEADS_TO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CONTRADICTORY: CONTRADICTS, INCOMPATIBLE_WITH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TIER 2 - 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自由类型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: UPPER_SNAKE_CASE (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如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MEMBER_OF, WORKS_FOR)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1" name="文本框 4"/>
          <p:cNvSpPr txBox="1"/>
          <p:nvPr>
            <p:custDataLst>
              <p:tags r:id="rId2"/>
            </p:custDataLst>
          </p:nvPr>
        </p:nvSpPr>
        <p:spPr>
          <a:xfrm>
            <a:off x="534670" y="1504315"/>
            <a:ext cx="1092136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从非结构化文本到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结构化文本：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KGSchema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设计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4670" y="1794510"/>
            <a:ext cx="11212195" cy="17291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知识图谱构建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5"/>
          <p:cNvSpPr txBox="1"/>
          <p:nvPr>
            <p:custDataLst>
              <p:tags r:id="rId1"/>
            </p:custDataLst>
          </p:nvPr>
        </p:nvSpPr>
        <p:spPr>
          <a:xfrm>
            <a:off x="541655" y="1787525"/>
            <a:ext cx="11219180" cy="173545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{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"nodes": ["Entity Name", "TYPE"],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"relationships": ["source", "src_type", "RELATION", "target", "tgt_type"]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}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1" name="文本框 4"/>
          <p:cNvSpPr txBox="1"/>
          <p:nvPr>
            <p:custDataLst>
              <p:tags r:id="rId2"/>
            </p:custDataLst>
          </p:nvPr>
        </p:nvSpPr>
        <p:spPr>
          <a:xfrm>
            <a:off x="541655" y="1249045"/>
            <a:ext cx="1092136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输出格式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4670" y="4236085"/>
            <a:ext cx="11212195" cy="2025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5"/>
          <p:cNvSpPr txBox="1"/>
          <p:nvPr>
            <p:custDataLst>
              <p:tags r:id="rId3"/>
            </p:custDataLst>
          </p:nvPr>
        </p:nvSpPr>
        <p:spPr>
          <a:xfrm>
            <a:off x="541655" y="4229100"/>
            <a:ext cx="11219180" cy="20320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原始格式：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relationships: [["Italian Earthquake", "EVENT", "HITS", "Central Italy", "LOCATION"]]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转换后：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triplets: ("Italian Earthquake", "HITS", "Central Italy")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41655" y="3690620"/>
            <a:ext cx="1092136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转换为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三元组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4670" y="2132330"/>
            <a:ext cx="5903595" cy="351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图谱检索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5"/>
          <p:cNvSpPr txBox="1"/>
          <p:nvPr>
            <p:custDataLst>
              <p:tags r:id="rId1"/>
            </p:custDataLst>
          </p:nvPr>
        </p:nvSpPr>
        <p:spPr>
          <a:xfrm>
            <a:off x="541655" y="2221865"/>
            <a:ext cx="5895975" cy="352488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entity_index = {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"Italian Earthquake": [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    ("Italian Earthquake", "HITS", "Central Italy"),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    ("Italian Earthquake", "CAUSES", "Aftershock")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],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"Central Italy": [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    ("Italian Earthquake", "HITS", "Central Italy")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 ]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}</a:t>
            </a:r>
            <a:endParaRPr kumimoji="0" lang="en-US" altLang="zh-CN" sz="16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1" name="文本框 4"/>
          <p:cNvSpPr txBox="1"/>
          <p:nvPr>
            <p:custDataLst>
              <p:tags r:id="rId2"/>
            </p:custDataLst>
          </p:nvPr>
        </p:nvSpPr>
        <p:spPr>
          <a:xfrm>
            <a:off x="534670" y="1504315"/>
            <a:ext cx="590232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实体关系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索引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7" name="矩形 56"/>
          <p:cNvSpPr/>
          <p:nvPr>
            <p:custDataLst>
              <p:tags r:id="rId3"/>
            </p:custDataLst>
          </p:nvPr>
        </p:nvSpPr>
        <p:spPr>
          <a:xfrm>
            <a:off x="7221855" y="2221865"/>
            <a:ext cx="2952750" cy="3069590"/>
          </a:xfrm>
          <a:prstGeom prst="rect">
            <a:avLst/>
          </a:prstGeom>
          <a:noFill/>
          <a:ln>
            <a:solidFill>
              <a:srgbClr val="525E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平行四边形 57"/>
          <p:cNvSpPr/>
          <p:nvPr>
            <p:custDataLst>
              <p:tags r:id="rId4"/>
            </p:custDataLst>
          </p:nvPr>
        </p:nvSpPr>
        <p:spPr>
          <a:xfrm>
            <a:off x="7503160" y="5041900"/>
            <a:ext cx="2872740" cy="61150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"/>
          <p:cNvSpPr txBox="1"/>
          <p:nvPr>
            <p:custDataLst>
              <p:tags r:id="rId5"/>
            </p:custDataLst>
          </p:nvPr>
        </p:nvSpPr>
        <p:spPr>
          <a:xfrm>
            <a:off x="7480300" y="2301240"/>
            <a:ext cx="2562225" cy="260032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将每个事件的</a:t>
            </a:r>
            <a:r>
              <a:rPr lang="en-US" altLang="zh-CN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summary</a:t>
            </a: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和事件下属文章的</a:t>
            </a:r>
            <a:r>
              <a:rPr lang="en-US" altLang="zh-CN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title</a:t>
            </a: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链接构成</a:t>
            </a:r>
            <a:r>
              <a:rPr lang="en-US" altLang="zh-CN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Claim</a:t>
            </a: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，利用大模型对</a:t>
            </a:r>
            <a:r>
              <a:rPr lang="en-US" altLang="zh-CN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Claim</a:t>
            </a:r>
            <a:r>
              <a:rPr lang="zh-CN" altLang="en-US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进行实体关系抽取。</a:t>
            </a:r>
            <a:endParaRPr kumimoji="0" lang="zh-CN" altLang="en-US" b="0" i="0" u="none" strike="noStrike" kern="1200" cap="none" spc="12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60" name="文本框 4"/>
          <p:cNvSpPr txBox="1"/>
          <p:nvPr>
            <p:custDataLst>
              <p:tags r:id="rId6"/>
            </p:custDataLst>
          </p:nvPr>
        </p:nvSpPr>
        <p:spPr>
          <a:xfrm>
            <a:off x="7236460" y="5138420"/>
            <a:ext cx="3312795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构建声明及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实体抽取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3554730" y="1937385"/>
            <a:ext cx="4260851" cy="2392680"/>
            <a:chOff x="3841112" y="1997904"/>
            <a:chExt cx="4165855" cy="2339094"/>
          </a:xfrm>
        </p:grpSpPr>
        <p:sp>
          <p:nvSpPr>
            <p:cNvPr id="15" name="任意多边形: 形状 41"/>
            <p:cNvSpPr/>
            <p:nvPr>
              <p:custDataLst>
                <p:tags r:id="rId2"/>
              </p:custDataLst>
            </p:nvPr>
          </p:nvSpPr>
          <p:spPr>
            <a:xfrm rot="5400000">
              <a:off x="6682862" y="3012893"/>
              <a:ext cx="1323834" cy="1324375"/>
            </a:xfrm>
            <a:custGeom>
              <a:avLst/>
              <a:gdLst>
                <a:gd name="connsiteX0" fmla="*/ 305496 w 1173547"/>
                <a:gd name="connsiteY0" fmla="*/ 1204207 h 1204207"/>
                <a:gd name="connsiteX1" fmla="*/ 0 w 1173547"/>
                <a:gd name="connsiteY1" fmla="*/ 698368 h 1204207"/>
                <a:gd name="connsiteX2" fmla="*/ 305496 w 1173547"/>
                <a:gd name="connsiteY2" fmla="*/ 192529 h 1204207"/>
                <a:gd name="connsiteX3" fmla="*/ 490739 w 1173547"/>
                <a:gd name="connsiteY3" fmla="*/ 192529 h 1204207"/>
                <a:gd name="connsiteX4" fmla="*/ 494258 w 1173547"/>
                <a:gd name="connsiteY4" fmla="*/ 183721 h 1204207"/>
                <a:gd name="connsiteX5" fmla="*/ 496135 w 1173547"/>
                <a:gd name="connsiteY5" fmla="*/ 156979 h 1204207"/>
                <a:gd name="connsiteX6" fmla="*/ 491988 w 1173547"/>
                <a:gd name="connsiteY6" fmla="*/ 142019 h 1204207"/>
                <a:gd name="connsiteX7" fmla="*/ 482484 w 1173547"/>
                <a:gd name="connsiteY7" fmla="*/ 138494 h 1204207"/>
                <a:gd name="connsiteX8" fmla="*/ 439285 w 1173547"/>
                <a:gd name="connsiteY8" fmla="*/ 81128 h 1204207"/>
                <a:gd name="connsiteX9" fmla="*/ 586772 w 1173547"/>
                <a:gd name="connsiteY9" fmla="*/ 0 h 1204207"/>
                <a:gd name="connsiteX10" fmla="*/ 734260 w 1173547"/>
                <a:gd name="connsiteY10" fmla="*/ 81128 h 1204207"/>
                <a:gd name="connsiteX11" fmla="*/ 691062 w 1173547"/>
                <a:gd name="connsiteY11" fmla="*/ 138494 h 1204207"/>
                <a:gd name="connsiteX12" fmla="*/ 682409 w 1173547"/>
                <a:gd name="connsiteY12" fmla="*/ 141703 h 1204207"/>
                <a:gd name="connsiteX13" fmla="*/ 680005 w 1173547"/>
                <a:gd name="connsiteY13" fmla="*/ 153429 h 1204207"/>
                <a:gd name="connsiteX14" fmla="*/ 682569 w 1173547"/>
                <a:gd name="connsiteY14" fmla="*/ 182172 h 1204207"/>
                <a:gd name="connsiteX15" fmla="*/ 685322 w 1173547"/>
                <a:gd name="connsiteY15" fmla="*/ 192529 h 1204207"/>
                <a:gd name="connsiteX16" fmla="*/ 868051 w 1173547"/>
                <a:gd name="connsiteY16" fmla="*/ 192529 h 1204207"/>
                <a:gd name="connsiteX17" fmla="*/ 1173547 w 1173547"/>
                <a:gd name="connsiteY17" fmla="*/ 698368 h 1204207"/>
                <a:gd name="connsiteX18" fmla="*/ 868051 w 1173547"/>
                <a:gd name="connsiteY18" fmla="*/ 1204207 h 1204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47" h="1204207">
                  <a:moveTo>
                    <a:pt x="305496" y="1204207"/>
                  </a:moveTo>
                  <a:lnTo>
                    <a:pt x="0" y="698368"/>
                  </a:lnTo>
                  <a:lnTo>
                    <a:pt x="305496" y="192529"/>
                  </a:lnTo>
                  <a:lnTo>
                    <a:pt x="490739" y="192529"/>
                  </a:lnTo>
                  <a:lnTo>
                    <a:pt x="494258" y="183721"/>
                  </a:lnTo>
                  <a:cubicBezTo>
                    <a:pt x="497701" y="173318"/>
                    <a:pt x="498150" y="166569"/>
                    <a:pt x="496135" y="156979"/>
                  </a:cubicBezTo>
                  <a:lnTo>
                    <a:pt x="491988" y="142019"/>
                  </a:lnTo>
                  <a:lnTo>
                    <a:pt x="482484" y="138494"/>
                  </a:lnTo>
                  <a:cubicBezTo>
                    <a:pt x="455794" y="123813"/>
                    <a:pt x="439285" y="103531"/>
                    <a:pt x="439285" y="81128"/>
                  </a:cubicBezTo>
                  <a:cubicBezTo>
                    <a:pt x="439285" y="36322"/>
                    <a:pt x="505318" y="0"/>
                    <a:pt x="586772" y="0"/>
                  </a:cubicBezTo>
                  <a:cubicBezTo>
                    <a:pt x="668228" y="0"/>
                    <a:pt x="734260" y="36322"/>
                    <a:pt x="734260" y="81128"/>
                  </a:cubicBezTo>
                  <a:cubicBezTo>
                    <a:pt x="734259" y="103531"/>
                    <a:pt x="717751" y="123813"/>
                    <a:pt x="691062" y="138494"/>
                  </a:cubicBezTo>
                  <a:lnTo>
                    <a:pt x="682409" y="141703"/>
                  </a:lnTo>
                  <a:lnTo>
                    <a:pt x="680005" y="153429"/>
                  </a:lnTo>
                  <a:cubicBezTo>
                    <a:pt x="678839" y="163084"/>
                    <a:pt x="679819" y="170823"/>
                    <a:pt x="682569" y="182172"/>
                  </a:cubicBezTo>
                  <a:lnTo>
                    <a:pt x="685322" y="192529"/>
                  </a:lnTo>
                  <a:lnTo>
                    <a:pt x="868051" y="192529"/>
                  </a:lnTo>
                  <a:lnTo>
                    <a:pt x="1173547" y="698368"/>
                  </a:lnTo>
                  <a:lnTo>
                    <a:pt x="868051" y="1204207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6" name="任意多边形: 形状 42"/>
            <p:cNvSpPr/>
            <p:nvPr>
              <p:custDataLst>
                <p:tags r:id="rId3"/>
              </p:custDataLst>
            </p:nvPr>
          </p:nvSpPr>
          <p:spPr>
            <a:xfrm rot="5400000">
              <a:off x="5578641" y="3010616"/>
              <a:ext cx="1323834" cy="1324375"/>
            </a:xfrm>
            <a:custGeom>
              <a:avLst/>
              <a:gdLst>
                <a:gd name="connsiteX0" fmla="*/ 305496 w 1173547"/>
                <a:gd name="connsiteY0" fmla="*/ 1204207 h 1204207"/>
                <a:gd name="connsiteX1" fmla="*/ 0 w 1173547"/>
                <a:gd name="connsiteY1" fmla="*/ 698368 h 1204207"/>
                <a:gd name="connsiteX2" fmla="*/ 305496 w 1173547"/>
                <a:gd name="connsiteY2" fmla="*/ 192529 h 1204207"/>
                <a:gd name="connsiteX3" fmla="*/ 490739 w 1173547"/>
                <a:gd name="connsiteY3" fmla="*/ 192529 h 1204207"/>
                <a:gd name="connsiteX4" fmla="*/ 494258 w 1173547"/>
                <a:gd name="connsiteY4" fmla="*/ 183721 h 1204207"/>
                <a:gd name="connsiteX5" fmla="*/ 496135 w 1173547"/>
                <a:gd name="connsiteY5" fmla="*/ 156979 h 1204207"/>
                <a:gd name="connsiteX6" fmla="*/ 491988 w 1173547"/>
                <a:gd name="connsiteY6" fmla="*/ 142019 h 1204207"/>
                <a:gd name="connsiteX7" fmla="*/ 482484 w 1173547"/>
                <a:gd name="connsiteY7" fmla="*/ 138494 h 1204207"/>
                <a:gd name="connsiteX8" fmla="*/ 439285 w 1173547"/>
                <a:gd name="connsiteY8" fmla="*/ 81128 h 1204207"/>
                <a:gd name="connsiteX9" fmla="*/ 586772 w 1173547"/>
                <a:gd name="connsiteY9" fmla="*/ 0 h 1204207"/>
                <a:gd name="connsiteX10" fmla="*/ 734260 w 1173547"/>
                <a:gd name="connsiteY10" fmla="*/ 81128 h 1204207"/>
                <a:gd name="connsiteX11" fmla="*/ 691062 w 1173547"/>
                <a:gd name="connsiteY11" fmla="*/ 138494 h 1204207"/>
                <a:gd name="connsiteX12" fmla="*/ 682409 w 1173547"/>
                <a:gd name="connsiteY12" fmla="*/ 141703 h 1204207"/>
                <a:gd name="connsiteX13" fmla="*/ 680005 w 1173547"/>
                <a:gd name="connsiteY13" fmla="*/ 153429 h 1204207"/>
                <a:gd name="connsiteX14" fmla="*/ 682569 w 1173547"/>
                <a:gd name="connsiteY14" fmla="*/ 182172 h 1204207"/>
                <a:gd name="connsiteX15" fmla="*/ 685322 w 1173547"/>
                <a:gd name="connsiteY15" fmla="*/ 192529 h 1204207"/>
                <a:gd name="connsiteX16" fmla="*/ 868051 w 1173547"/>
                <a:gd name="connsiteY16" fmla="*/ 192529 h 1204207"/>
                <a:gd name="connsiteX17" fmla="*/ 1173547 w 1173547"/>
                <a:gd name="connsiteY17" fmla="*/ 698368 h 1204207"/>
                <a:gd name="connsiteX18" fmla="*/ 868051 w 1173547"/>
                <a:gd name="connsiteY18" fmla="*/ 1204207 h 1204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47" h="1204207">
                  <a:moveTo>
                    <a:pt x="305496" y="1204207"/>
                  </a:moveTo>
                  <a:lnTo>
                    <a:pt x="0" y="698368"/>
                  </a:lnTo>
                  <a:lnTo>
                    <a:pt x="305496" y="192529"/>
                  </a:lnTo>
                  <a:lnTo>
                    <a:pt x="490739" y="192529"/>
                  </a:lnTo>
                  <a:lnTo>
                    <a:pt x="494258" y="183721"/>
                  </a:lnTo>
                  <a:cubicBezTo>
                    <a:pt x="497701" y="173318"/>
                    <a:pt x="498150" y="166569"/>
                    <a:pt x="496135" y="156979"/>
                  </a:cubicBezTo>
                  <a:lnTo>
                    <a:pt x="491988" y="142019"/>
                  </a:lnTo>
                  <a:lnTo>
                    <a:pt x="482484" y="138494"/>
                  </a:lnTo>
                  <a:cubicBezTo>
                    <a:pt x="455794" y="123813"/>
                    <a:pt x="439285" y="103531"/>
                    <a:pt x="439285" y="81128"/>
                  </a:cubicBezTo>
                  <a:cubicBezTo>
                    <a:pt x="439285" y="36322"/>
                    <a:pt x="505318" y="0"/>
                    <a:pt x="586772" y="0"/>
                  </a:cubicBezTo>
                  <a:cubicBezTo>
                    <a:pt x="668228" y="0"/>
                    <a:pt x="734260" y="36322"/>
                    <a:pt x="734260" y="81128"/>
                  </a:cubicBezTo>
                  <a:cubicBezTo>
                    <a:pt x="734259" y="103531"/>
                    <a:pt x="717751" y="123813"/>
                    <a:pt x="691062" y="138494"/>
                  </a:cubicBezTo>
                  <a:lnTo>
                    <a:pt x="682409" y="141703"/>
                  </a:lnTo>
                  <a:lnTo>
                    <a:pt x="680005" y="153429"/>
                  </a:lnTo>
                  <a:cubicBezTo>
                    <a:pt x="678839" y="163084"/>
                    <a:pt x="679819" y="170823"/>
                    <a:pt x="682569" y="182172"/>
                  </a:cubicBezTo>
                  <a:lnTo>
                    <a:pt x="685322" y="192529"/>
                  </a:lnTo>
                  <a:lnTo>
                    <a:pt x="868051" y="192529"/>
                  </a:lnTo>
                  <a:lnTo>
                    <a:pt x="1173547" y="698368"/>
                  </a:lnTo>
                  <a:lnTo>
                    <a:pt x="868051" y="1204207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7" name="任意多边形: 形状 43"/>
            <p:cNvSpPr/>
            <p:nvPr>
              <p:custDataLst>
                <p:tags r:id="rId4"/>
              </p:custDataLst>
            </p:nvPr>
          </p:nvSpPr>
          <p:spPr>
            <a:xfrm rot="8957378">
              <a:off x="4933216" y="2083586"/>
              <a:ext cx="1370058" cy="1393640"/>
            </a:xfrm>
            <a:custGeom>
              <a:avLst/>
              <a:gdLst>
                <a:gd name="connsiteX0" fmla="*/ 305496 w 1173547"/>
                <a:gd name="connsiteY0" fmla="*/ 1204207 h 1204207"/>
                <a:gd name="connsiteX1" fmla="*/ 0 w 1173547"/>
                <a:gd name="connsiteY1" fmla="*/ 698368 h 1204207"/>
                <a:gd name="connsiteX2" fmla="*/ 305496 w 1173547"/>
                <a:gd name="connsiteY2" fmla="*/ 192529 h 1204207"/>
                <a:gd name="connsiteX3" fmla="*/ 490739 w 1173547"/>
                <a:gd name="connsiteY3" fmla="*/ 192529 h 1204207"/>
                <a:gd name="connsiteX4" fmla="*/ 494258 w 1173547"/>
                <a:gd name="connsiteY4" fmla="*/ 183721 h 1204207"/>
                <a:gd name="connsiteX5" fmla="*/ 496135 w 1173547"/>
                <a:gd name="connsiteY5" fmla="*/ 156979 h 1204207"/>
                <a:gd name="connsiteX6" fmla="*/ 491988 w 1173547"/>
                <a:gd name="connsiteY6" fmla="*/ 142019 h 1204207"/>
                <a:gd name="connsiteX7" fmla="*/ 482484 w 1173547"/>
                <a:gd name="connsiteY7" fmla="*/ 138494 h 1204207"/>
                <a:gd name="connsiteX8" fmla="*/ 439285 w 1173547"/>
                <a:gd name="connsiteY8" fmla="*/ 81128 h 1204207"/>
                <a:gd name="connsiteX9" fmla="*/ 586772 w 1173547"/>
                <a:gd name="connsiteY9" fmla="*/ 0 h 1204207"/>
                <a:gd name="connsiteX10" fmla="*/ 734260 w 1173547"/>
                <a:gd name="connsiteY10" fmla="*/ 81128 h 1204207"/>
                <a:gd name="connsiteX11" fmla="*/ 691062 w 1173547"/>
                <a:gd name="connsiteY11" fmla="*/ 138494 h 1204207"/>
                <a:gd name="connsiteX12" fmla="*/ 682409 w 1173547"/>
                <a:gd name="connsiteY12" fmla="*/ 141703 h 1204207"/>
                <a:gd name="connsiteX13" fmla="*/ 680005 w 1173547"/>
                <a:gd name="connsiteY13" fmla="*/ 153429 h 1204207"/>
                <a:gd name="connsiteX14" fmla="*/ 682569 w 1173547"/>
                <a:gd name="connsiteY14" fmla="*/ 182172 h 1204207"/>
                <a:gd name="connsiteX15" fmla="*/ 685322 w 1173547"/>
                <a:gd name="connsiteY15" fmla="*/ 192529 h 1204207"/>
                <a:gd name="connsiteX16" fmla="*/ 868051 w 1173547"/>
                <a:gd name="connsiteY16" fmla="*/ 192529 h 1204207"/>
                <a:gd name="connsiteX17" fmla="*/ 1173547 w 1173547"/>
                <a:gd name="connsiteY17" fmla="*/ 698368 h 1204207"/>
                <a:gd name="connsiteX18" fmla="*/ 868051 w 1173547"/>
                <a:gd name="connsiteY18" fmla="*/ 1204207 h 1204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47" h="1204207">
                  <a:moveTo>
                    <a:pt x="305496" y="1204207"/>
                  </a:moveTo>
                  <a:lnTo>
                    <a:pt x="0" y="698368"/>
                  </a:lnTo>
                  <a:lnTo>
                    <a:pt x="305496" y="192529"/>
                  </a:lnTo>
                  <a:lnTo>
                    <a:pt x="490739" y="192529"/>
                  </a:lnTo>
                  <a:lnTo>
                    <a:pt x="494258" y="183721"/>
                  </a:lnTo>
                  <a:cubicBezTo>
                    <a:pt x="497701" y="173318"/>
                    <a:pt x="498150" y="166569"/>
                    <a:pt x="496135" y="156979"/>
                  </a:cubicBezTo>
                  <a:lnTo>
                    <a:pt x="491988" y="142019"/>
                  </a:lnTo>
                  <a:lnTo>
                    <a:pt x="482484" y="138494"/>
                  </a:lnTo>
                  <a:cubicBezTo>
                    <a:pt x="455794" y="123813"/>
                    <a:pt x="439285" y="103531"/>
                    <a:pt x="439285" y="81128"/>
                  </a:cubicBezTo>
                  <a:cubicBezTo>
                    <a:pt x="439285" y="36322"/>
                    <a:pt x="505318" y="0"/>
                    <a:pt x="586772" y="0"/>
                  </a:cubicBezTo>
                  <a:cubicBezTo>
                    <a:pt x="668228" y="0"/>
                    <a:pt x="734260" y="36322"/>
                    <a:pt x="734260" y="81128"/>
                  </a:cubicBezTo>
                  <a:cubicBezTo>
                    <a:pt x="734259" y="103531"/>
                    <a:pt x="717751" y="123813"/>
                    <a:pt x="691062" y="138494"/>
                  </a:cubicBezTo>
                  <a:lnTo>
                    <a:pt x="682409" y="141703"/>
                  </a:lnTo>
                  <a:lnTo>
                    <a:pt x="680005" y="153429"/>
                  </a:lnTo>
                  <a:cubicBezTo>
                    <a:pt x="678839" y="163084"/>
                    <a:pt x="679819" y="170823"/>
                    <a:pt x="682569" y="182172"/>
                  </a:cubicBezTo>
                  <a:lnTo>
                    <a:pt x="685322" y="192529"/>
                  </a:lnTo>
                  <a:lnTo>
                    <a:pt x="868051" y="192529"/>
                  </a:lnTo>
                  <a:lnTo>
                    <a:pt x="1173547" y="698368"/>
                  </a:lnTo>
                  <a:lnTo>
                    <a:pt x="868051" y="1204207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8" name="任意多边形: 形状 44"/>
            <p:cNvSpPr/>
            <p:nvPr>
              <p:custDataLst>
                <p:tags r:id="rId5"/>
              </p:custDataLst>
            </p:nvPr>
          </p:nvSpPr>
          <p:spPr>
            <a:xfrm rot="10800000">
              <a:off x="3841112" y="1997904"/>
              <a:ext cx="1358421" cy="1382276"/>
            </a:xfrm>
            <a:custGeom>
              <a:avLst/>
              <a:gdLst>
                <a:gd name="connsiteX0" fmla="*/ 698369 w 1204208"/>
                <a:gd name="connsiteY0" fmla="*/ 1225355 h 1225355"/>
                <a:gd name="connsiteX1" fmla="*/ 192530 w 1204208"/>
                <a:gd name="connsiteY1" fmla="*/ 906373 h 1225355"/>
                <a:gd name="connsiteX2" fmla="*/ 192530 w 1204208"/>
                <a:gd name="connsiteY2" fmla="*/ 712739 h 1225355"/>
                <a:gd name="connsiteX3" fmla="*/ 189258 w 1204208"/>
                <a:gd name="connsiteY3" fmla="*/ 711336 h 1225355"/>
                <a:gd name="connsiteX4" fmla="*/ 146201 w 1204208"/>
                <a:gd name="connsiteY4" fmla="*/ 710258 h 1225355"/>
                <a:gd name="connsiteX5" fmla="*/ 142042 w 1204208"/>
                <a:gd name="connsiteY5" fmla="*/ 711585 h 1225355"/>
                <a:gd name="connsiteX6" fmla="*/ 138494 w 1204208"/>
                <a:gd name="connsiteY6" fmla="*/ 721571 h 1225355"/>
                <a:gd name="connsiteX7" fmla="*/ 81128 w 1204208"/>
                <a:gd name="connsiteY7" fmla="*/ 766676 h 1225355"/>
                <a:gd name="connsiteX8" fmla="*/ 0 w 1204208"/>
                <a:gd name="connsiteY8" fmla="*/ 612678 h 1225355"/>
                <a:gd name="connsiteX9" fmla="*/ 81128 w 1204208"/>
                <a:gd name="connsiteY9" fmla="*/ 458680 h 1225355"/>
                <a:gd name="connsiteX10" fmla="*/ 138494 w 1204208"/>
                <a:gd name="connsiteY10" fmla="*/ 503785 h 1225355"/>
                <a:gd name="connsiteX11" fmla="*/ 141770 w 1204208"/>
                <a:gd name="connsiteY11" fmla="*/ 513007 h 1225355"/>
                <a:gd name="connsiteX12" fmla="*/ 142930 w 1204208"/>
                <a:gd name="connsiteY12" fmla="*/ 513350 h 1225355"/>
                <a:gd name="connsiteX13" fmla="*/ 188174 w 1204208"/>
                <a:gd name="connsiteY13" fmla="*/ 511064 h 1225355"/>
                <a:gd name="connsiteX14" fmla="*/ 192530 w 1204208"/>
                <a:gd name="connsiteY14" fmla="*/ 509840 h 1225355"/>
                <a:gd name="connsiteX15" fmla="*/ 192530 w 1204208"/>
                <a:gd name="connsiteY15" fmla="*/ 318983 h 1225355"/>
                <a:gd name="connsiteX16" fmla="*/ 698369 w 1204208"/>
                <a:gd name="connsiteY16" fmla="*/ 0 h 1225355"/>
                <a:gd name="connsiteX17" fmla="*/ 1204208 w 1204208"/>
                <a:gd name="connsiteY17" fmla="*/ 318983 h 1225355"/>
                <a:gd name="connsiteX18" fmla="*/ 1204208 w 1204208"/>
                <a:gd name="connsiteY18" fmla="*/ 509130 h 1225355"/>
                <a:gd name="connsiteX19" fmla="*/ 1135813 w 1204208"/>
                <a:gd name="connsiteY19" fmla="*/ 517548 h 1225355"/>
                <a:gd name="connsiteX20" fmla="*/ 1134653 w 1204208"/>
                <a:gd name="connsiteY20" fmla="*/ 517220 h 1225355"/>
                <a:gd name="connsiteX21" fmla="*/ 1131377 w 1204208"/>
                <a:gd name="connsiteY21" fmla="*/ 508388 h 1225355"/>
                <a:gd name="connsiteX22" fmla="*/ 1074011 w 1204208"/>
                <a:gd name="connsiteY22" fmla="*/ 465190 h 1225355"/>
                <a:gd name="connsiteX23" fmla="*/ 992883 w 1204208"/>
                <a:gd name="connsiteY23" fmla="*/ 612677 h 1225355"/>
                <a:gd name="connsiteX24" fmla="*/ 1074011 w 1204208"/>
                <a:gd name="connsiteY24" fmla="*/ 760164 h 1225355"/>
                <a:gd name="connsiteX25" fmla="*/ 1131377 w 1204208"/>
                <a:gd name="connsiteY25" fmla="*/ 716966 h 1225355"/>
                <a:gd name="connsiteX26" fmla="*/ 1134924 w 1204208"/>
                <a:gd name="connsiteY26" fmla="*/ 707402 h 1225355"/>
                <a:gd name="connsiteX27" fmla="*/ 1139084 w 1204208"/>
                <a:gd name="connsiteY27" fmla="*/ 706131 h 1225355"/>
                <a:gd name="connsiteX28" fmla="*/ 1204208 w 1204208"/>
                <a:gd name="connsiteY28" fmla="*/ 716222 h 1225355"/>
                <a:gd name="connsiteX29" fmla="*/ 1204208 w 1204208"/>
                <a:gd name="connsiteY29" fmla="*/ 906373 h 122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04208" h="1225355">
                  <a:moveTo>
                    <a:pt x="698369" y="1225355"/>
                  </a:moveTo>
                  <a:lnTo>
                    <a:pt x="192530" y="906373"/>
                  </a:lnTo>
                  <a:lnTo>
                    <a:pt x="192530" y="712739"/>
                  </a:lnTo>
                  <a:lnTo>
                    <a:pt x="189258" y="711336"/>
                  </a:lnTo>
                  <a:cubicBezTo>
                    <a:pt x="171555" y="704359"/>
                    <a:pt x="164511" y="704622"/>
                    <a:pt x="146201" y="710258"/>
                  </a:cubicBezTo>
                  <a:lnTo>
                    <a:pt x="142042" y="711585"/>
                  </a:lnTo>
                  <a:lnTo>
                    <a:pt x="138494" y="721571"/>
                  </a:lnTo>
                  <a:cubicBezTo>
                    <a:pt x="123813" y="749439"/>
                    <a:pt x="103531" y="766676"/>
                    <a:pt x="81128" y="766676"/>
                  </a:cubicBezTo>
                  <a:cubicBezTo>
                    <a:pt x="36322" y="766676"/>
                    <a:pt x="0" y="697729"/>
                    <a:pt x="0" y="612678"/>
                  </a:cubicBezTo>
                  <a:cubicBezTo>
                    <a:pt x="0" y="527627"/>
                    <a:pt x="36322" y="458680"/>
                    <a:pt x="81128" y="458680"/>
                  </a:cubicBezTo>
                  <a:cubicBezTo>
                    <a:pt x="103531" y="458680"/>
                    <a:pt x="123813" y="475917"/>
                    <a:pt x="138494" y="503785"/>
                  </a:cubicBezTo>
                  <a:lnTo>
                    <a:pt x="141770" y="513007"/>
                  </a:lnTo>
                  <a:lnTo>
                    <a:pt x="142930" y="513350"/>
                  </a:lnTo>
                  <a:cubicBezTo>
                    <a:pt x="160251" y="517483"/>
                    <a:pt x="169113" y="516279"/>
                    <a:pt x="188174" y="511064"/>
                  </a:cubicBezTo>
                  <a:lnTo>
                    <a:pt x="192530" y="509840"/>
                  </a:lnTo>
                  <a:lnTo>
                    <a:pt x="192530" y="318983"/>
                  </a:lnTo>
                  <a:lnTo>
                    <a:pt x="698369" y="0"/>
                  </a:lnTo>
                  <a:lnTo>
                    <a:pt x="1204208" y="318983"/>
                  </a:lnTo>
                  <a:lnTo>
                    <a:pt x="1204208" y="509130"/>
                  </a:lnTo>
                  <a:cubicBezTo>
                    <a:pt x="1166964" y="519018"/>
                    <a:pt x="1158907" y="522826"/>
                    <a:pt x="1135813" y="517548"/>
                  </a:cubicBezTo>
                  <a:lnTo>
                    <a:pt x="1134653" y="517220"/>
                  </a:lnTo>
                  <a:lnTo>
                    <a:pt x="1131377" y="508388"/>
                  </a:lnTo>
                  <a:cubicBezTo>
                    <a:pt x="1116696" y="481698"/>
                    <a:pt x="1096414" y="465190"/>
                    <a:pt x="1074011" y="465190"/>
                  </a:cubicBezTo>
                  <a:cubicBezTo>
                    <a:pt x="1029205" y="465190"/>
                    <a:pt x="992883" y="531222"/>
                    <a:pt x="992883" y="612677"/>
                  </a:cubicBezTo>
                  <a:cubicBezTo>
                    <a:pt x="992883" y="694132"/>
                    <a:pt x="1029205" y="760164"/>
                    <a:pt x="1074011" y="760164"/>
                  </a:cubicBezTo>
                  <a:cubicBezTo>
                    <a:pt x="1096414" y="760164"/>
                    <a:pt x="1116696" y="743656"/>
                    <a:pt x="1131377" y="716966"/>
                  </a:cubicBezTo>
                  <a:lnTo>
                    <a:pt x="1134924" y="707402"/>
                  </a:lnTo>
                  <a:lnTo>
                    <a:pt x="1139084" y="706131"/>
                  </a:lnTo>
                  <a:cubicBezTo>
                    <a:pt x="1163498" y="698933"/>
                    <a:pt x="1167882" y="700887"/>
                    <a:pt x="1204208" y="716222"/>
                  </a:cubicBezTo>
                  <a:lnTo>
                    <a:pt x="1204208" y="906373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4055481" y="2457073"/>
              <a:ext cx="749300" cy="450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01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5780256" y="3461269"/>
              <a:ext cx="749300" cy="450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03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8"/>
              </p:custDataLst>
            </p:nvPr>
          </p:nvSpPr>
          <p:spPr>
            <a:xfrm>
              <a:off x="5199533" y="2447761"/>
              <a:ext cx="749300" cy="450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02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9"/>
              </p:custDataLst>
            </p:nvPr>
          </p:nvSpPr>
          <p:spPr>
            <a:xfrm>
              <a:off x="6893079" y="3461269"/>
              <a:ext cx="749300" cy="450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04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  <p:sp>
        <p:nvSpPr>
          <p:cNvPr id="50" name="文本框 49"/>
          <p:cNvSpPr txBox="1"/>
          <p:nvPr>
            <p:custDataLst>
              <p:tags r:id="rId10"/>
            </p:custDataLst>
          </p:nvPr>
        </p:nvSpPr>
        <p:spPr>
          <a:xfrm>
            <a:off x="6312535" y="1369060"/>
            <a:ext cx="289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模糊匹配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11"/>
            </p:custDataLst>
          </p:nvPr>
        </p:nvSpPr>
        <p:spPr>
          <a:xfrm>
            <a:off x="6312535" y="1727200"/>
            <a:ext cx="4234815" cy="163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SequenceMatcher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算法进行模糊匹配，遍历所有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KG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实体计算相似度，若高于阈值，则认为是匹配的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实体。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7284085" y="4291965"/>
            <a:ext cx="289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多跳扩展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检索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3"/>
            </p:custDataLst>
          </p:nvPr>
        </p:nvSpPr>
        <p:spPr>
          <a:xfrm>
            <a:off x="7283450" y="4690745"/>
            <a:ext cx="3263900" cy="163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提取一跳邻居实体，二跳检索邻居实体是否存在匹配，若匹配，则将实体事件关系三元组提取出来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加入检索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结果。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14"/>
            </p:custDataLst>
          </p:nvPr>
        </p:nvSpPr>
        <p:spPr>
          <a:xfrm>
            <a:off x="381000" y="1924050"/>
            <a:ext cx="289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精确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匹配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1021715" y="2282190"/>
            <a:ext cx="2254250" cy="163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600" spc="12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检测声明实体是否精确存在于实体索引中。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>
          <a:xfrm>
            <a:off x="2451735" y="4058285"/>
            <a:ext cx="289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一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跳检索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7"/>
            </p:custDataLst>
          </p:nvPr>
        </p:nvSpPr>
        <p:spPr>
          <a:xfrm>
            <a:off x="2333625" y="4416425"/>
            <a:ext cx="3013075" cy="163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凡是匹配的实体，将它们的实体事件关系三元组提取出来</a:t>
            </a:r>
            <a:r>
              <a:rPr kumimoji="0" lang="zh-CN" sz="1600" b="0" i="0" u="none" strike="noStrike" kern="1200" cap="none" spc="12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加入检索结果。</a:t>
            </a:r>
            <a:endParaRPr kumimoji="0" lang="zh-CN" sz="1600" b="0" i="0" u="none" strike="noStrike" kern="1200" cap="none" spc="12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3" name="文本框 2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图谱检索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1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58260" y="205740"/>
            <a:ext cx="4594225" cy="1113790"/>
            <a:chOff x="6076" y="324"/>
            <a:chExt cx="7235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076" y="324"/>
              <a:ext cx="7235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事实核查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1" name="文本框 4"/>
          <p:cNvSpPr txBox="1"/>
          <p:nvPr>
            <p:custDataLst>
              <p:tags r:id="rId1"/>
            </p:custDataLst>
          </p:nvPr>
        </p:nvSpPr>
        <p:spPr>
          <a:xfrm>
            <a:off x="408940" y="1550670"/>
            <a:ext cx="9996170" cy="400050"/>
          </a:xfrm>
          <a:prstGeom prst="round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Verdict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类型：五级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判定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08940" y="2138045"/>
          <a:ext cx="11252835" cy="3893820"/>
        </p:xfrm>
        <a:graphic>
          <a:graphicData uri="http://schemas.openxmlformats.org/drawingml/2006/table">
            <a:tbl>
              <a:tblPr firstRow="1" bandRow="1">
                <a:tableStyleId>{4ECC6CFB-0933-472C-8A9B-D812CB76F608}</a:tableStyleId>
              </a:tblPr>
              <a:tblGrid>
                <a:gridCol w="3750945"/>
                <a:gridCol w="3750945"/>
                <a:gridCol w="3750945"/>
              </a:tblGrid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判定结果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含义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置信度范围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SUPPORT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完全支持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0.8 - 1.0</a:t>
                      </a:r>
                      <a:endParaRPr lang="en-US" altLang="zh-CN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PARTIALLY_SUPPORTED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部分支持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0.6 - 0.8</a:t>
                      </a:r>
                      <a:endParaRPr lang="en-US" altLang="zh-CN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PARTIALLY_CONTRADICTED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部分矛盾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0.4 - 0.6</a:t>
                      </a:r>
                      <a:endParaRPr lang="en-US" altLang="zh-CN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CONTRADICTED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完全矛盾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0.2 - 0.4</a:t>
                      </a:r>
                      <a:endParaRPr lang="en-US" altLang="zh-CN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NEI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信息不足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0.0 - 0.2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8" name="矩形 87"/>
          <p:cNvSpPr/>
          <p:nvPr>
            <p:custDataLst>
              <p:tags r:id="rId1"/>
            </p:custDataLst>
          </p:nvPr>
        </p:nvSpPr>
        <p:spPr>
          <a:xfrm>
            <a:off x="760741" y="2502514"/>
            <a:ext cx="2404807" cy="3761761"/>
          </a:xfrm>
          <a:prstGeom prst="rect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1369695" y="1861185"/>
            <a:ext cx="1186815" cy="1186815"/>
          </a:xfrm>
          <a:prstGeom prst="ellipse">
            <a:avLst/>
          </a:prstGeom>
          <a:solidFill>
            <a:srgbClr val="525E8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3"/>
            </p:custDataLst>
          </p:nvPr>
        </p:nvSpPr>
        <p:spPr>
          <a:xfrm>
            <a:off x="784860" y="3471545"/>
            <a:ext cx="2375535" cy="398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理解型问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答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4"/>
            </p:custDataLst>
          </p:nvPr>
        </p:nvSpPr>
        <p:spPr>
          <a:xfrm>
            <a:off x="989330" y="3822700"/>
            <a:ext cx="1995170" cy="2566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测试对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Claim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及其上下文的基本理解，提取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Claim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的核心主张，询问事实核查基本结论，要求概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关键信息。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0" name="矩形 89"/>
          <p:cNvSpPr/>
          <p:nvPr>
            <p:custDataLst>
              <p:tags r:id="rId5"/>
            </p:custDataLst>
          </p:nvPr>
        </p:nvSpPr>
        <p:spPr>
          <a:xfrm>
            <a:off x="3554173" y="2502514"/>
            <a:ext cx="2404807" cy="3761761"/>
          </a:xfrm>
          <a:prstGeom prst="rect">
            <a:avLst/>
          </a:prstGeom>
          <a:solidFill>
            <a:srgbClr val="E3C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8" name="椭圆 67"/>
          <p:cNvSpPr/>
          <p:nvPr>
            <p:custDataLst>
              <p:tags r:id="rId6"/>
            </p:custDataLst>
          </p:nvPr>
        </p:nvSpPr>
        <p:spPr>
          <a:xfrm>
            <a:off x="4163060" y="1861185"/>
            <a:ext cx="1186815" cy="1186815"/>
          </a:xfrm>
          <a:prstGeom prst="ellipse">
            <a:avLst/>
          </a:prstGeom>
          <a:solidFill>
            <a:srgbClr val="E3C19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9" name="矩形 88"/>
          <p:cNvSpPr/>
          <p:nvPr>
            <p:custDataLst>
              <p:tags r:id="rId7"/>
            </p:custDataLst>
          </p:nvPr>
        </p:nvSpPr>
        <p:spPr>
          <a:xfrm>
            <a:off x="6347605" y="2502514"/>
            <a:ext cx="2404807" cy="3761761"/>
          </a:xfrm>
          <a:prstGeom prst="rect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5" name="椭圆 64"/>
          <p:cNvSpPr/>
          <p:nvPr>
            <p:custDataLst>
              <p:tags r:id="rId8"/>
            </p:custDataLst>
          </p:nvPr>
        </p:nvSpPr>
        <p:spPr>
          <a:xfrm>
            <a:off x="6956425" y="1861185"/>
            <a:ext cx="1186815" cy="1186815"/>
          </a:xfrm>
          <a:prstGeom prst="ellipse">
            <a:avLst/>
          </a:prstGeom>
          <a:solidFill>
            <a:srgbClr val="525E8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1" name="矩形 90"/>
          <p:cNvSpPr/>
          <p:nvPr>
            <p:custDataLst>
              <p:tags r:id="rId9"/>
            </p:custDataLst>
          </p:nvPr>
        </p:nvSpPr>
        <p:spPr>
          <a:xfrm>
            <a:off x="9141036" y="2502514"/>
            <a:ext cx="2404807" cy="3761761"/>
          </a:xfrm>
          <a:prstGeom prst="rect">
            <a:avLst/>
          </a:prstGeom>
          <a:solidFill>
            <a:srgbClr val="E3C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9" name="椭圆 78"/>
          <p:cNvSpPr/>
          <p:nvPr>
            <p:custDataLst>
              <p:tags r:id="rId10"/>
            </p:custDataLst>
          </p:nvPr>
        </p:nvSpPr>
        <p:spPr>
          <a:xfrm>
            <a:off x="9749790" y="1861185"/>
            <a:ext cx="1186815" cy="1186815"/>
          </a:xfrm>
          <a:prstGeom prst="ellipse">
            <a:avLst/>
          </a:prstGeom>
          <a:solidFill>
            <a:srgbClr val="E3C19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486851" y="2193808"/>
            <a:ext cx="952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en-US" altLang="zh-CN" sz="28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280851" y="2193808"/>
            <a:ext cx="952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7074851" y="2193808"/>
            <a:ext cx="952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9866946" y="2193173"/>
            <a:ext cx="952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en-US" altLang="zh-CN" sz="28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3582670" y="3471545"/>
            <a:ext cx="2375535" cy="398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证据型问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答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3759200" y="3870325"/>
            <a:ext cx="1995170" cy="2566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要求使用关键证据来回答问题，设计需要引用证据才能回答的问题，答案必须直接来自证据三元组。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7"/>
            </p:custDataLst>
          </p:nvPr>
        </p:nvSpPr>
        <p:spPr>
          <a:xfrm>
            <a:off x="6351905" y="3471545"/>
            <a:ext cx="2375535" cy="398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反事实型问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答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6552565" y="3880485"/>
            <a:ext cx="1995170" cy="2566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探索与</a:t>
            </a:r>
            <a:r>
              <a:rPr kumimoji="0" lang="en-US" altLang="zh-CN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Claim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相关的假设情景，基于当前证据中的矛盾或不确定性，改变一个关键前提条件，询问结果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的变化。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9121140" y="3471545"/>
            <a:ext cx="2375535" cy="398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批判思维问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答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0"/>
            </p:custDataLst>
          </p:nvPr>
        </p:nvSpPr>
        <p:spPr>
          <a:xfrm>
            <a:off x="9345930" y="3870325"/>
            <a:ext cx="1995170" cy="2566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识别证据中的矛盾或不一致，要求解释为什么得出特定结论，评估和</a:t>
            </a:r>
            <a:r>
              <a:rPr kumimoji="0" lang="zh-CN" altLang="en-US" sz="1600" b="0" i="0" u="none" strike="noStrike" kern="1200" cap="none" spc="1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分析证据的充分性和可靠性。</a:t>
            </a:r>
            <a:endParaRPr kumimoji="0" lang="zh-CN" altLang="en-US" sz="1600" b="0" i="0" u="none" strike="noStrike" kern="1200" cap="none" spc="1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3" name="文本框 2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问答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类型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2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3"/>
              </p:custDataLst>
            </p:nvPr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 2"/>
          <p:cNvSpPr/>
          <p:nvPr>
            <p:custDataLst>
              <p:tags r:id="rId4"/>
            </p:custDataLst>
          </p:nvPr>
        </p:nvSpPr>
        <p:spPr>
          <a:xfrm rot="19680000">
            <a:off x="475615" y="3435985"/>
            <a:ext cx="9095740" cy="17932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942" h="2472">
                <a:moveTo>
                  <a:pt x="7440" y="0"/>
                </a:moveTo>
                <a:lnTo>
                  <a:pt x="7455" y="9"/>
                </a:lnTo>
                <a:lnTo>
                  <a:pt x="7456" y="9"/>
                </a:lnTo>
                <a:lnTo>
                  <a:pt x="7456" y="10"/>
                </a:lnTo>
                <a:lnTo>
                  <a:pt x="10497" y="1910"/>
                </a:lnTo>
                <a:lnTo>
                  <a:pt x="12935" y="1654"/>
                </a:lnTo>
                <a:lnTo>
                  <a:pt x="12907" y="1393"/>
                </a:lnTo>
                <a:lnTo>
                  <a:pt x="13942" y="1812"/>
                </a:lnTo>
                <a:lnTo>
                  <a:pt x="13017" y="2437"/>
                </a:lnTo>
                <a:lnTo>
                  <a:pt x="12989" y="2176"/>
                </a:lnTo>
                <a:lnTo>
                  <a:pt x="10360" y="2453"/>
                </a:lnTo>
                <a:lnTo>
                  <a:pt x="10348" y="2472"/>
                </a:lnTo>
                <a:lnTo>
                  <a:pt x="10324" y="2456"/>
                </a:lnTo>
                <a:lnTo>
                  <a:pt x="10316" y="2457"/>
                </a:lnTo>
                <a:lnTo>
                  <a:pt x="10315" y="2451"/>
                </a:lnTo>
                <a:lnTo>
                  <a:pt x="7296" y="564"/>
                </a:lnTo>
                <a:lnTo>
                  <a:pt x="0" y="564"/>
                </a:lnTo>
                <a:lnTo>
                  <a:pt x="0" y="9"/>
                </a:lnTo>
                <a:lnTo>
                  <a:pt x="7434" y="9"/>
                </a:lnTo>
                <a:lnTo>
                  <a:pt x="7440" y="0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1278255" y="5161280"/>
            <a:ext cx="828675" cy="828675"/>
          </a:xfrm>
          <a:prstGeom prst="ellipse">
            <a:avLst/>
          </a:prstGeom>
          <a:solidFill>
            <a:srgbClr val="525E8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3461385" y="3778250"/>
            <a:ext cx="828675" cy="828675"/>
          </a:xfrm>
          <a:prstGeom prst="ellipse">
            <a:avLst/>
          </a:prstGeom>
          <a:solidFill>
            <a:srgbClr val="E3C19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6691630" y="3282950"/>
            <a:ext cx="828675" cy="828675"/>
          </a:xfrm>
          <a:prstGeom prst="ellipse">
            <a:avLst/>
          </a:prstGeom>
          <a:solidFill>
            <a:srgbClr val="525E8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8"/>
            </p:custDataLst>
          </p:nvPr>
        </p:nvSpPr>
        <p:spPr>
          <a:xfrm>
            <a:off x="9122410" y="1599565"/>
            <a:ext cx="828675" cy="828675"/>
          </a:xfrm>
          <a:prstGeom prst="ellipse">
            <a:avLst/>
          </a:prstGeom>
          <a:solidFill>
            <a:srgbClr val="E3C19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文本框 5"/>
          <p:cNvSpPr txBox="1"/>
          <p:nvPr>
            <p:custDataLst>
              <p:tags r:id="rId9"/>
            </p:custDataLst>
          </p:nvPr>
        </p:nvSpPr>
        <p:spPr>
          <a:xfrm>
            <a:off x="140970" y="3316605"/>
            <a:ext cx="2432685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对同一事件的关系图进行跨文档提取共同性实体，与事实核查结果</a:t>
            </a:r>
            <a:r>
              <a:rPr lang="zh-CN" altLang="en-US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共同作为评估标准的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Golds</a:t>
            </a:r>
            <a:r>
              <a:rPr lang="zh-CN" altLang="en-US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答案。</a:t>
            </a:r>
            <a:endParaRPr lang="zh-CN" altLang="en-US" sz="1600" spc="120" dirty="0" err="1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8" name="文本框 1"/>
          <p:cNvSpPr txBox="1"/>
          <p:nvPr>
            <p:custDataLst>
              <p:tags r:id="rId10"/>
            </p:custDataLst>
          </p:nvPr>
        </p:nvSpPr>
        <p:spPr>
          <a:xfrm>
            <a:off x="38735" y="3032760"/>
            <a:ext cx="2637155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跨文档实体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提取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文本框 5"/>
          <p:cNvSpPr txBox="1"/>
          <p:nvPr>
            <p:custDataLst>
              <p:tags r:id="rId11"/>
            </p:custDataLst>
          </p:nvPr>
        </p:nvSpPr>
        <p:spPr>
          <a:xfrm>
            <a:off x="3830955" y="4961255"/>
            <a:ext cx="4586605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大模型根据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Golds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答案每类型生成多个问题，问题类型为理解型、证据型、反事实型和批判思维型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4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种；随后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尝试分类别回答每个问题，并记录问题类型和输出答案依据。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algn="just">
              <a:lnSpc>
                <a:spcPct val="150000"/>
              </a:lnSpc>
              <a:defRPr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5" name="文本框 1"/>
          <p:cNvSpPr txBox="1"/>
          <p:nvPr>
            <p:custDataLst>
              <p:tags r:id="rId12"/>
            </p:custDataLst>
          </p:nvPr>
        </p:nvSpPr>
        <p:spPr>
          <a:xfrm>
            <a:off x="3728720" y="4544695"/>
            <a:ext cx="2637155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候选问答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对生成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4" name="文本框 5"/>
          <p:cNvSpPr txBox="1"/>
          <p:nvPr>
            <p:custDataLst>
              <p:tags r:id="rId13"/>
            </p:custDataLst>
          </p:nvPr>
        </p:nvSpPr>
        <p:spPr>
          <a:xfrm>
            <a:off x="4906645" y="1717040"/>
            <a:ext cx="2703830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要求大模型根据事实核查结果对回答进行忠实度、相关性和覆盖率进行逐项评分，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计算平均值。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26" name="文本框 1"/>
          <p:cNvSpPr txBox="1"/>
          <p:nvPr>
            <p:custDataLst>
              <p:tags r:id="rId14"/>
            </p:custDataLst>
          </p:nvPr>
        </p:nvSpPr>
        <p:spPr>
          <a:xfrm>
            <a:off x="5075555" y="1372870"/>
            <a:ext cx="2637155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大模型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自评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5"/>
          <p:cNvSpPr txBox="1"/>
          <p:nvPr>
            <p:custDataLst>
              <p:tags r:id="rId15"/>
            </p:custDataLst>
          </p:nvPr>
        </p:nvSpPr>
        <p:spPr>
          <a:xfrm>
            <a:off x="8609965" y="3072765"/>
            <a:ext cx="3336290" cy="23533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基于预测答案与和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Golds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答案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计算下列指标：</a:t>
            </a:r>
            <a:endParaRPr 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匹配度：是否精确匹配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Golds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答案、计算字段重叠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率；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统计量：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计算精确率、召回率、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F1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分数。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algn="just">
              <a:lnSpc>
                <a:spcPct val="150000"/>
              </a:lnSpc>
              <a:defRPr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29" name="文本框 1"/>
          <p:cNvSpPr txBox="1"/>
          <p:nvPr>
            <p:custDataLst>
              <p:tags r:id="rId16"/>
            </p:custDataLst>
          </p:nvPr>
        </p:nvSpPr>
        <p:spPr>
          <a:xfrm>
            <a:off x="8410575" y="2656205"/>
            <a:ext cx="2934335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数值评估指标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1264920" y="5391150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en-US" altLang="zh-CN" sz="20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8"/>
            </p:custDataLst>
          </p:nvPr>
        </p:nvSpPr>
        <p:spPr>
          <a:xfrm>
            <a:off x="3448050" y="4005580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26"/>
          <p:cNvSpPr txBox="1"/>
          <p:nvPr>
            <p:custDataLst>
              <p:tags r:id="rId19"/>
            </p:custDataLst>
          </p:nvPr>
        </p:nvSpPr>
        <p:spPr>
          <a:xfrm>
            <a:off x="6691630" y="351345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3" name="文本框 27"/>
          <p:cNvSpPr txBox="1"/>
          <p:nvPr>
            <p:custDataLst>
              <p:tags r:id="rId20"/>
            </p:custDataLst>
          </p:nvPr>
        </p:nvSpPr>
        <p:spPr>
          <a:xfrm>
            <a:off x="9122410" y="183070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84245" y="205740"/>
            <a:ext cx="6998970" cy="1113790"/>
            <a:chOff x="4252" y="324"/>
            <a:chExt cx="11022" cy="1754"/>
          </a:xfrm>
        </p:grpSpPr>
        <p:sp>
          <p:nvSpPr>
            <p:cNvPr id="3" name="文本框 2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研究技术路线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-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问答对生成及评估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流程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METHODS OF RESEARCH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2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平行四边形 45"/>
          <p:cNvSpPr/>
          <p:nvPr/>
        </p:nvSpPr>
        <p:spPr>
          <a:xfrm>
            <a:off x="4839335" y="1771650"/>
            <a:ext cx="2785745" cy="54292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 rot="10800000">
            <a:off x="0" y="6250305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00263" y="2679065"/>
            <a:ext cx="7897495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研究成果</a:t>
            </a: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展示</a:t>
            </a:r>
            <a:endParaRPr kumimoji="0" lang="zh-CN" altLang="en-US" sz="66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98850" y="3984625"/>
            <a:ext cx="51098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REASERACH ACHIEVEMENT </a:t>
            </a:r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dISPLAY</a:t>
            </a:r>
            <a:endParaRPr lang="en-US" altLang="zh-CN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704715" y="1877695"/>
            <a:ext cx="2847975" cy="651510"/>
            <a:chOff x="4026" y="6397"/>
            <a:chExt cx="4485" cy="1026"/>
          </a:xfrm>
        </p:grpSpPr>
        <p:sp>
          <p:nvSpPr>
            <p:cNvPr id="34" name="平行四边形 33"/>
            <p:cNvSpPr/>
            <p:nvPr/>
          </p:nvSpPr>
          <p:spPr>
            <a:xfrm>
              <a:off x="4026" y="6397"/>
              <a:ext cx="4387" cy="855"/>
            </a:xfrm>
            <a:prstGeom prst="parallelogram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027" y="6443"/>
              <a:ext cx="4484" cy="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PART 0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3</a:t>
              </a: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145915" y="205740"/>
            <a:ext cx="3900170" cy="1113790"/>
            <a:chOff x="6529" y="324"/>
            <a:chExt cx="614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529" y="324"/>
              <a:ext cx="614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样本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示例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7185" b="3074"/>
          <a:stretch>
            <a:fillRect/>
          </a:stretch>
        </p:blipFill>
        <p:spPr>
          <a:xfrm>
            <a:off x="2051685" y="1172845"/>
            <a:ext cx="8081645" cy="5563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单篇文章抽取结果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(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示例</a:t>
              </a: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)</a:t>
              </a:r>
              <a:endParaRPr kumimoji="0" lang="en-US" altLang="zh-CN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8778" b="2713"/>
          <a:stretch>
            <a:fillRect/>
          </a:stretch>
        </p:blipFill>
        <p:spPr>
          <a:xfrm>
            <a:off x="185420" y="1066800"/>
            <a:ext cx="9987915" cy="57981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三元组转换</a:t>
              </a:r>
              <a:endParaRPr kumimoji="0" lang="en-US" altLang="zh-CN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4444" b="1324"/>
          <a:stretch>
            <a:fillRect/>
          </a:stretch>
        </p:blipFill>
        <p:spPr>
          <a:xfrm>
            <a:off x="2537460" y="993140"/>
            <a:ext cx="5669280" cy="5875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实体索引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构建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5028" b="1630"/>
          <a:stretch>
            <a:fillRect/>
          </a:stretch>
        </p:blipFill>
        <p:spPr>
          <a:xfrm>
            <a:off x="2466975" y="857885"/>
            <a:ext cx="7384415" cy="6145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Claim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实体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抽取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19346" b="8837"/>
          <a:stretch>
            <a:fillRect/>
          </a:stretch>
        </p:blipFill>
        <p:spPr>
          <a:xfrm>
            <a:off x="0" y="2684145"/>
            <a:ext cx="12192000" cy="17443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实体对齐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结果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14645" b="7415"/>
          <a:stretch>
            <a:fillRect/>
          </a:stretch>
        </p:blipFill>
        <p:spPr>
          <a:xfrm>
            <a:off x="0" y="2214880"/>
            <a:ext cx="12192000" cy="2676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图谱检索（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过程示例）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7446" b="2848"/>
          <a:stretch>
            <a:fillRect/>
          </a:stretch>
        </p:blipFill>
        <p:spPr>
          <a:xfrm>
            <a:off x="0" y="1114425"/>
            <a:ext cx="12192000" cy="57365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图谱检索（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实际结果）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12296" b="5291"/>
          <a:stretch>
            <a:fillRect/>
          </a:stretch>
        </p:blipFill>
        <p:spPr>
          <a:xfrm>
            <a:off x="554355" y="1494790"/>
            <a:ext cx="11181080" cy="47345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事实核查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12387" b="669"/>
          <a:stretch>
            <a:fillRect/>
          </a:stretch>
        </p:blipFill>
        <p:spPr>
          <a:xfrm>
            <a:off x="84455" y="1116965"/>
            <a:ext cx="12192000" cy="3467735"/>
          </a:xfrm>
          <a:prstGeom prst="rect">
            <a:avLst/>
          </a:prstGeom>
        </p:spPr>
      </p:pic>
      <p:pic>
        <p:nvPicPr>
          <p:cNvPr id="4" name="图片 3" descr="mermaid-diagram-2026-06-12-152051"/>
          <p:cNvPicPr>
            <a:picLocks noChangeAspect="1"/>
          </p:cNvPicPr>
          <p:nvPr/>
        </p:nvPicPr>
        <p:blipFill>
          <a:blip r:embed="rId2">
            <a:clrChange>
              <a:clrFrom>
                <a:srgbClr val="020817">
                  <a:alpha val="100000"/>
                </a:srgbClr>
              </a:clrFrom>
              <a:clrTo>
                <a:srgbClr val="02081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680" y="4584700"/>
            <a:ext cx="9445625" cy="1950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问答对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生成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5546" b="1685"/>
          <a:stretch>
            <a:fillRect/>
          </a:stretch>
        </p:blipFill>
        <p:spPr>
          <a:xfrm>
            <a:off x="1513840" y="1103630"/>
            <a:ext cx="8707755" cy="56368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大模型自评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结果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5204" b="2167"/>
          <a:stretch>
            <a:fillRect/>
          </a:stretch>
        </p:blipFill>
        <p:spPr>
          <a:xfrm>
            <a:off x="2581275" y="1140460"/>
            <a:ext cx="7082155" cy="57042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指标评估结果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5565" b="1269"/>
          <a:stretch>
            <a:fillRect/>
          </a:stretch>
        </p:blipFill>
        <p:spPr>
          <a:xfrm>
            <a:off x="3011170" y="1176655"/>
            <a:ext cx="6267450" cy="56502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综合评估结果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 descr="table1"/>
          <p:cNvPicPr>
            <a:picLocks noChangeAspect="1"/>
          </p:cNvPicPr>
          <p:nvPr/>
        </p:nvPicPr>
        <p:blipFill>
          <a:blip r:embed="rId1"/>
          <a:srcRect l="12770" t="25803" r="12113" b="27270"/>
          <a:stretch>
            <a:fillRect/>
          </a:stretch>
        </p:blipFill>
        <p:spPr>
          <a:xfrm>
            <a:off x="2882265" y="1267460"/>
            <a:ext cx="6525260" cy="1726565"/>
          </a:xfrm>
          <a:prstGeom prst="rect">
            <a:avLst/>
          </a:prstGeom>
        </p:spPr>
      </p:pic>
      <p:pic>
        <p:nvPicPr>
          <p:cNvPr id="14" name="图片 13" descr="table2"/>
          <p:cNvPicPr>
            <a:picLocks noChangeAspect="1"/>
          </p:cNvPicPr>
          <p:nvPr/>
        </p:nvPicPr>
        <p:blipFill>
          <a:blip r:embed="rId2"/>
          <a:srcRect t="28044" b="27475"/>
          <a:stretch>
            <a:fillRect/>
          </a:stretch>
        </p:blipFill>
        <p:spPr>
          <a:xfrm>
            <a:off x="696595" y="3223895"/>
            <a:ext cx="10896600" cy="1637665"/>
          </a:xfrm>
          <a:prstGeom prst="rect">
            <a:avLst/>
          </a:prstGeom>
        </p:spPr>
      </p:pic>
      <p:pic>
        <p:nvPicPr>
          <p:cNvPr id="15" name="图片 14" descr="table3"/>
          <p:cNvPicPr>
            <a:picLocks noChangeAspect="1"/>
          </p:cNvPicPr>
          <p:nvPr/>
        </p:nvPicPr>
        <p:blipFill>
          <a:blip r:embed="rId3"/>
          <a:srcRect l="3421" t="27649" r="3465" b="28184"/>
          <a:stretch>
            <a:fillRect/>
          </a:stretch>
        </p:blipFill>
        <p:spPr>
          <a:xfrm>
            <a:off x="2100580" y="5049520"/>
            <a:ext cx="8088630" cy="1624965"/>
          </a:xfrm>
          <a:prstGeom prst="rect">
            <a:avLst/>
          </a:prstGeom>
        </p:spPr>
      </p:pic>
      <p:sp>
        <p:nvSpPr>
          <p:cNvPr id="17" name="文本框 5"/>
          <p:cNvSpPr txBox="1"/>
          <p:nvPr>
            <p:custDataLst>
              <p:tags r:id="rId4"/>
            </p:custDataLst>
          </p:nvPr>
        </p:nvSpPr>
        <p:spPr>
          <a:xfrm>
            <a:off x="696595" y="1308735"/>
            <a:ext cx="2394585" cy="4991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表</a:t>
            </a:r>
            <a:r>
              <a:rPr lang="en-US" altLang="zh-CN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1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：各维度结果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总览</a:t>
            </a:r>
            <a:endParaRPr lang="zh-CN" altLang="en-US" sz="1600" spc="120" dirty="0" err="1">
              <a:solidFill>
                <a:srgbClr val="525E84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" name="文本框 5"/>
          <p:cNvSpPr txBox="1"/>
          <p:nvPr>
            <p:custDataLst>
              <p:tags r:id="rId5"/>
            </p:custDataLst>
          </p:nvPr>
        </p:nvSpPr>
        <p:spPr>
          <a:xfrm>
            <a:off x="696595" y="1918335"/>
            <a:ext cx="2394585" cy="4991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表</a:t>
            </a:r>
            <a:r>
              <a:rPr lang="en-US" altLang="zh-CN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2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：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指标评估结果</a:t>
            </a:r>
            <a:endParaRPr lang="zh-CN" altLang="en-US" sz="1600" spc="120" dirty="0" err="1">
              <a:solidFill>
                <a:srgbClr val="525E84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8" name="文本框 5"/>
          <p:cNvSpPr txBox="1"/>
          <p:nvPr>
            <p:custDataLst>
              <p:tags r:id="rId6"/>
            </p:custDataLst>
          </p:nvPr>
        </p:nvSpPr>
        <p:spPr>
          <a:xfrm>
            <a:off x="696595" y="2487930"/>
            <a:ext cx="2394585" cy="4991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表</a:t>
            </a:r>
            <a:r>
              <a:rPr lang="en-US" altLang="zh-CN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3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：模型</a:t>
            </a: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自评估结果</a:t>
            </a:r>
            <a:endParaRPr lang="zh-CN" altLang="en-US" sz="1600" spc="120" dirty="0" err="1">
              <a:solidFill>
                <a:srgbClr val="525E84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2550" y="205740"/>
            <a:ext cx="4504690" cy="1113790"/>
            <a:chOff x="6130" y="324"/>
            <a:chExt cx="7094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6130" y="324"/>
              <a:ext cx="7094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最终输出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REASERACH ACHIEVEMENT dISPLAY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5"/>
          <p:cNvSpPr txBox="1"/>
          <p:nvPr>
            <p:custDataLst>
              <p:tags r:id="rId1"/>
            </p:custDataLst>
          </p:nvPr>
        </p:nvSpPr>
        <p:spPr>
          <a:xfrm>
            <a:off x="140970" y="3316605"/>
            <a:ext cx="1994535" cy="21075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spc="120" dirty="0" err="1">
                <a:solidFill>
                  <a:srgbClr val="525E8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为节省展示空间，只重点展示输出结果的结构，部分条目省略内容。</a:t>
            </a:r>
            <a:endParaRPr lang="zh-CN" altLang="en-US" sz="1600" spc="120" dirty="0" err="1">
              <a:solidFill>
                <a:srgbClr val="525E84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DF6E3">
                  <a:alpha val="100000"/>
                </a:srgbClr>
              </a:clrFrom>
              <a:clrTo>
                <a:srgbClr val="FDF6E3">
                  <a:alpha val="100000"/>
                  <a:alpha val="0"/>
                </a:srgbClr>
              </a:clrTo>
            </a:clrChange>
          </a:blip>
          <a:srcRect t="6056" b="2028"/>
          <a:stretch>
            <a:fillRect/>
          </a:stretch>
        </p:blipFill>
        <p:spPr>
          <a:xfrm>
            <a:off x="2581275" y="1037590"/>
            <a:ext cx="6425565" cy="5800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平行四边形 45"/>
          <p:cNvSpPr/>
          <p:nvPr/>
        </p:nvSpPr>
        <p:spPr>
          <a:xfrm>
            <a:off x="4839335" y="1771650"/>
            <a:ext cx="2785745" cy="542925"/>
          </a:xfrm>
          <a:prstGeom prst="parallelogram">
            <a:avLst/>
          </a:prstGeom>
          <a:solidFill>
            <a:srgbClr val="525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 rot="10800000">
            <a:off x="0" y="6250305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00263" y="2679065"/>
            <a:ext cx="7897495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总结与</a:t>
            </a:r>
            <a:r>
              <a:rPr kumimoji="0" lang="zh-CN" altLang="en-US" sz="66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展望</a:t>
            </a:r>
            <a:endParaRPr kumimoji="0" lang="zh-CN" altLang="en-US" sz="66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98850" y="3984625"/>
            <a:ext cx="51098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summary  &amp;  f</a:t>
            </a:r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uture PLAN</a:t>
            </a:r>
            <a:endParaRPr lang="en-US" altLang="zh-CN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704715" y="1877695"/>
            <a:ext cx="2847975" cy="651510"/>
            <a:chOff x="4026" y="6397"/>
            <a:chExt cx="4485" cy="1026"/>
          </a:xfrm>
        </p:grpSpPr>
        <p:sp>
          <p:nvSpPr>
            <p:cNvPr id="34" name="平行四边形 33"/>
            <p:cNvSpPr/>
            <p:nvPr/>
          </p:nvSpPr>
          <p:spPr>
            <a:xfrm>
              <a:off x="4026" y="6397"/>
              <a:ext cx="4387" cy="855"/>
            </a:xfrm>
            <a:prstGeom prst="parallelogram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027" y="6443"/>
              <a:ext cx="4484" cy="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PART 0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4</a:t>
              </a: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4670" y="1319530"/>
            <a:ext cx="11212195" cy="5280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22" name="文本框 21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项目代码结构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SUMMARY  &amp;  FUTURE PLAN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5"/>
          <p:cNvSpPr txBox="1"/>
          <p:nvPr>
            <p:custDataLst>
              <p:tags r:id="rId1"/>
            </p:custDataLst>
          </p:nvPr>
        </p:nvSpPr>
        <p:spPr>
          <a:xfrm>
            <a:off x="527685" y="1275715"/>
            <a:ext cx="11219180" cy="422719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fact_check_project/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step0_article_entity_extraction/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article_extractor.py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知识图谱抽取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step1_triplet_converter/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converter.py   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三元组转换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step2_claim_entity_extraction/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claim_extractor.py        # Claim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实体抽取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step3_entity_alignment/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aligner.py     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实体对齐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step4_fact_checking_qa/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│</a:t>
            </a:r>
            <a:r>
              <a:rPr lang="en-US" altLang="zh-CN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   </a:t>
            </a:r>
            <a:r>
              <a:rPr lang="en-US" altLang="en-US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├──</a:t>
            </a:r>
            <a:r>
              <a:rPr lang="en-US" altLang="zh-CN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 extract_answer.py         # golds</a:t>
            </a:r>
            <a:r>
              <a:rPr lang="zh-CN" altLang="en-US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答案生成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graph_retriever.py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图谱检索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fact_checker.py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事实核查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qa_generator.py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问答生成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pipeline.py    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主流水线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test.ipynb     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测试笔记本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├──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step5_evaluation/</a:t>
            </a: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│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  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└──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regular_evaluator.py      # REGULAR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评估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1200" spc="12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└</a:t>
            </a:r>
            <a:r>
              <a:rPr kumimoji="0" lang="en-US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──</a:t>
            </a:r>
            <a:r>
              <a:rPr kumimoji="0" lang="en-US" altLang="zh-CN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 utils.py                       # </a:t>
            </a:r>
            <a:r>
              <a:rPr kumimoji="0" lang="zh-CN" altLang="en-US" sz="1200" b="0" i="0" u="none" strike="noStrike" kern="1200" cap="none" spc="12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+mn-ea"/>
              </a:rPr>
              <a:t>公共工具类</a:t>
            </a:r>
            <a:endParaRPr kumimoji="0" lang="zh-CN" altLang="en-US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12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460" y="1635760"/>
            <a:ext cx="2788920" cy="4648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00020" y="205740"/>
            <a:ext cx="6998970" cy="1113790"/>
            <a:chOff x="4252" y="324"/>
            <a:chExt cx="11022" cy="1754"/>
          </a:xfrm>
        </p:grpSpPr>
        <p:sp>
          <p:nvSpPr>
            <p:cNvPr id="4" name="文本框 3"/>
            <p:cNvSpPr txBox="1"/>
            <p:nvPr/>
          </p:nvSpPr>
          <p:spPr>
            <a:xfrm>
              <a:off x="4252" y="324"/>
              <a:ext cx="110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技术难点与解决</a:t>
              </a: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方案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SUMMARY  &amp;  FUTURE PLAN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2142490" y="1600835"/>
          <a:ext cx="8114030" cy="3893820"/>
        </p:xfrm>
        <a:graphic>
          <a:graphicData uri="http://schemas.openxmlformats.org/drawingml/2006/table">
            <a:tbl>
              <a:tblPr firstRow="1" bandRow="1">
                <a:tableStyleId>{4ECC6CFB-0933-472C-8A9B-D812CB76F608}</a:tableStyleId>
              </a:tblPr>
              <a:tblGrid>
                <a:gridCol w="2614295"/>
                <a:gridCol w="5499735"/>
              </a:tblGrid>
              <a:tr h="648970"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技术难点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解决方案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zh-CN"/>
                        <a:t>LLM</a:t>
                      </a:r>
                      <a:r>
                        <a:rPr lang="zh-CN" altLang="en-US"/>
                        <a:t>输出格式不稳定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多层</a:t>
                      </a:r>
                      <a:r>
                        <a:rPr lang="en-US" altLang="zh-CN"/>
                        <a:t>JSON</a:t>
                      </a:r>
                      <a:r>
                        <a:rPr lang="zh-CN" altLang="en-US"/>
                        <a:t>清洗</a:t>
                      </a:r>
                      <a:r>
                        <a:rPr lang="en-US" altLang="zh-CN"/>
                        <a:t> + Markdown</a:t>
                      </a:r>
                      <a:r>
                        <a:rPr lang="zh-CN" altLang="en-US"/>
                        <a:t>代码块去除</a:t>
                      </a:r>
                      <a:r>
                        <a:rPr lang="en-US" altLang="zh-CN"/>
                        <a:t> + </a:t>
                      </a:r>
                      <a:r>
                        <a:rPr lang="zh-CN" altLang="en-US"/>
                        <a:t>异常回退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实体命名不统一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精确匹配</a:t>
                      </a:r>
                      <a:r>
                        <a:rPr lang="en-US" altLang="zh-CN"/>
                        <a:t> + </a:t>
                      </a:r>
                      <a:r>
                        <a:rPr lang="zh-CN" altLang="en-US"/>
                        <a:t>模糊匹配</a:t>
                      </a:r>
                      <a:r>
                        <a:rPr lang="en-US" altLang="zh-CN"/>
                        <a:t>(≥0.6) + LLM</a:t>
                      </a:r>
                      <a:r>
                        <a:rPr lang="zh-CN" altLang="en-US"/>
                        <a:t>语义对齐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跨文档关系丢失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构建实体索引</a:t>
                      </a:r>
                      <a:r>
                        <a:rPr lang="en-US" altLang="zh-CN"/>
                        <a:t> + </a:t>
                      </a:r>
                      <a:r>
                        <a:rPr lang="zh-CN" altLang="en-US"/>
                        <a:t>多跳邻居扩展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长文本处理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每样本限制最多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篇文章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断点续传需求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just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已处理</a:t>
                      </a:r>
                      <a:r>
                        <a:rPr lang="en-US" altLang="zh-CN"/>
                        <a:t>ID</a:t>
                      </a:r>
                      <a:r>
                        <a:rPr lang="zh-CN" altLang="en-US"/>
                        <a:t>记录</a:t>
                      </a:r>
                      <a:r>
                        <a:rPr lang="en-US" altLang="zh-CN"/>
                        <a:t> + </a:t>
                      </a:r>
                      <a:r>
                        <a:rPr lang="zh-CN" altLang="en-US"/>
                        <a:t>追加写入模式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0"/>
            <a:ext cx="3688715" cy="1100455"/>
            <a:chOff x="0" y="0"/>
            <a:chExt cx="7488" cy="2234"/>
          </a:xfrm>
        </p:grpSpPr>
        <p:sp>
          <p:nvSpPr>
            <p:cNvPr id="9" name="任意多边形 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 flipV="1">
            <a:off x="8503285" y="5757545"/>
            <a:ext cx="3688715" cy="1100455"/>
            <a:chOff x="0" y="0"/>
            <a:chExt cx="7488" cy="2234"/>
          </a:xfrm>
        </p:grpSpPr>
        <p:sp>
          <p:nvSpPr>
            <p:cNvPr id="19" name="任意多边形 18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6" name="椭圆 55"/>
          <p:cNvSpPr/>
          <p:nvPr>
            <p:custDataLst>
              <p:tags r:id="rId1"/>
            </p:custDataLst>
          </p:nvPr>
        </p:nvSpPr>
        <p:spPr>
          <a:xfrm>
            <a:off x="4366093" y="2009760"/>
            <a:ext cx="3486483" cy="3486483"/>
          </a:xfrm>
          <a:prstGeom prst="ellipse">
            <a:avLst/>
          </a:prstGeom>
          <a:solidFill>
            <a:srgbClr val="EDE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40" name="文本框 36"/>
          <p:cNvSpPr txBox="1"/>
          <p:nvPr>
            <p:custDataLst>
              <p:tags r:id="rId2"/>
            </p:custDataLst>
          </p:nvPr>
        </p:nvSpPr>
        <p:spPr>
          <a:xfrm>
            <a:off x="1870075" y="2417763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模型微调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1" name="文本框 37"/>
          <p:cNvSpPr txBox="1"/>
          <p:nvPr>
            <p:custDataLst>
              <p:tags r:id="rId3"/>
            </p:custDataLst>
          </p:nvPr>
        </p:nvSpPr>
        <p:spPr>
          <a:xfrm>
            <a:off x="864235" y="2719070"/>
            <a:ext cx="3507105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参考</a:t>
            </a:r>
            <a:r>
              <a:rPr kumimoji="0" lang="en-US" altLang="zh-CN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REGULAR</a:t>
            </a: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论文做法微调</a:t>
            </a:r>
            <a:r>
              <a:rPr kumimoji="0" lang="en-US" altLang="zh-CN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QG</a:t>
            </a: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和</a:t>
            </a:r>
            <a:r>
              <a:rPr kumimoji="0" lang="en-US" altLang="zh-CN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QA</a:t>
            </a: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模型，增强模型</a:t>
            </a:r>
            <a:r>
              <a:rPr kumimoji="0" lang="zh-CN" altLang="en-US" sz="1600" b="0" i="0" u="none" strike="noStrike" cap="none" spc="12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专业性。</a:t>
            </a:r>
            <a:endParaRPr kumimoji="0" lang="zh-CN" altLang="en-US" sz="1600" b="0" i="0" u="none" strike="noStrike" cap="none" spc="12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2" name="文本框 40"/>
          <p:cNvSpPr txBox="1"/>
          <p:nvPr>
            <p:custDataLst>
              <p:tags r:id="rId4"/>
            </p:custDataLst>
          </p:nvPr>
        </p:nvSpPr>
        <p:spPr>
          <a:xfrm>
            <a:off x="1870710" y="3886518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用户交互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3" name="文本框 41"/>
          <p:cNvSpPr txBox="1"/>
          <p:nvPr>
            <p:custDataLst>
              <p:tags r:id="rId5"/>
            </p:custDataLst>
          </p:nvPr>
        </p:nvSpPr>
        <p:spPr>
          <a:xfrm>
            <a:off x="864235" y="4302125"/>
            <a:ext cx="3508375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接入新闻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API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实现实时事实核查，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开发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Web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界面，支持人机协同核查。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6"/>
            </p:custDataLst>
          </p:nvPr>
        </p:nvSpPr>
        <p:spPr>
          <a:xfrm>
            <a:off x="7811135" y="3875088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3C19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多语言扩展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E3C19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7811135" y="4290695"/>
            <a:ext cx="3667125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探索多语言新闻事实核查的问答对生成，扩充问答对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数据集。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6" name="文本框 46"/>
          <p:cNvSpPr txBox="1"/>
          <p:nvPr>
            <p:custDataLst>
              <p:tags r:id="rId8"/>
            </p:custDataLst>
          </p:nvPr>
        </p:nvSpPr>
        <p:spPr>
          <a:xfrm>
            <a:off x="7811135" y="2369503"/>
            <a:ext cx="250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E8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成本优化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25E8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7" name="文本框 47"/>
          <p:cNvSpPr txBox="1"/>
          <p:nvPr>
            <p:custDataLst>
              <p:tags r:id="rId9"/>
            </p:custDataLst>
          </p:nvPr>
        </p:nvSpPr>
        <p:spPr>
          <a:xfrm>
            <a:off x="7811135" y="2785110"/>
            <a:ext cx="3653790" cy="12534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探索小模型蒸馏，降低</a:t>
            </a:r>
            <a:r>
              <a:rPr kumimoji="0" lang="en-US" altLang="zh-CN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API</a:t>
            </a:r>
            <a:r>
              <a:rPr kumimoji="0" lang="zh-CN" altLang="en-US" sz="1600" b="0" i="0" u="none" strike="noStrike" kern="1200" cap="none" spc="12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调用成本。</a:t>
            </a:r>
            <a:endParaRPr kumimoji="0" lang="zh-CN" altLang="en-US" sz="1600" b="0" i="0" u="none" strike="noStrike" kern="1200" cap="none" spc="12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4" name="矩形: 圆角 1"/>
          <p:cNvSpPr/>
          <p:nvPr>
            <p:custDataLst>
              <p:tags r:id="rId10"/>
            </p:custDataLst>
          </p:nvPr>
        </p:nvSpPr>
        <p:spPr>
          <a:xfrm>
            <a:off x="4805679" y="2425216"/>
            <a:ext cx="1186815" cy="1186815"/>
          </a:xfrm>
          <a:prstGeom prst="rect">
            <a:avLst/>
          </a:prstGeom>
          <a:solidFill>
            <a:srgbClr val="E3C19E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矩形: 圆角 2"/>
          <p:cNvSpPr/>
          <p:nvPr>
            <p:custDataLst>
              <p:tags r:id="rId11"/>
            </p:custDataLst>
          </p:nvPr>
        </p:nvSpPr>
        <p:spPr>
          <a:xfrm>
            <a:off x="6225539" y="2425216"/>
            <a:ext cx="1186815" cy="1186815"/>
          </a:xfrm>
          <a:prstGeom prst="rect">
            <a:avLst/>
          </a:prstGeom>
          <a:solidFill>
            <a:srgbClr val="525E8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矩形: 圆角 7"/>
          <p:cNvSpPr/>
          <p:nvPr>
            <p:custDataLst>
              <p:tags r:id="rId12"/>
            </p:custDataLst>
          </p:nvPr>
        </p:nvSpPr>
        <p:spPr>
          <a:xfrm>
            <a:off x="4805679" y="3893971"/>
            <a:ext cx="1186815" cy="1186815"/>
          </a:xfrm>
          <a:prstGeom prst="rect">
            <a:avLst/>
          </a:prstGeom>
          <a:solidFill>
            <a:srgbClr val="525E8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矩形: 圆角 8"/>
          <p:cNvSpPr/>
          <p:nvPr>
            <p:custDataLst>
              <p:tags r:id="rId13"/>
            </p:custDataLst>
          </p:nvPr>
        </p:nvSpPr>
        <p:spPr>
          <a:xfrm>
            <a:off x="6226174" y="3893971"/>
            <a:ext cx="1186815" cy="1186815"/>
          </a:xfrm>
          <a:prstGeom prst="rect">
            <a:avLst/>
          </a:prstGeom>
          <a:solidFill>
            <a:srgbClr val="E3C19E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922836" y="2695458"/>
            <a:ext cx="952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6343331" y="2695458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922836" y="4164213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6343331" y="4164213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en-US" altLang="zh-CN" sz="36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36975" y="205740"/>
            <a:ext cx="4776470" cy="1113790"/>
            <a:chOff x="5885" y="324"/>
            <a:chExt cx="7522" cy="1754"/>
          </a:xfrm>
        </p:grpSpPr>
        <p:sp>
          <p:nvSpPr>
            <p:cNvPr id="3" name="文本框 2"/>
            <p:cNvSpPr txBox="1"/>
            <p:nvPr/>
          </p:nvSpPr>
          <p:spPr>
            <a:xfrm>
              <a:off x="5885" y="324"/>
              <a:ext cx="7522" cy="17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i="0" u="none" strike="noStrike" cap="none" spc="0" normalizeH="0" baseline="0" dirty="0">
                  <a:ln w="28575">
                    <a:noFill/>
                  </a:ln>
                  <a:solidFill>
                    <a:srgbClr val="525E84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</a:rPr>
                <a:t>后续展望</a:t>
              </a:r>
              <a:endParaRPr kumimoji="0" lang="zh-CN" altLang="en-US" sz="3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09" y="1232"/>
              <a:ext cx="3582" cy="4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/>
              <a:r>
                <a:rPr lang="en-US" altLang="zh-CN" sz="900" cap="all" dirty="0">
                  <a:solidFill>
                    <a:srgbClr val="525E84"/>
                  </a:solidFill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BACKGROUND  &amp;  PURPOSES </a:t>
              </a:r>
              <a:endParaRPr lang="en-US" altLang="zh-CN" sz="900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 flipV="1">
              <a:off x="9063" y="1733"/>
              <a:ext cx="1074" cy="120"/>
            </a:xfrm>
            <a:prstGeom prst="rect">
              <a:avLst/>
            </a:pr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18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2147253" y="2073910"/>
            <a:ext cx="7897495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汇报完毕</a:t>
            </a:r>
            <a:r>
              <a:rPr kumimoji="0" lang="en-US" altLang="zh-CN" sz="7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 </a:t>
            </a:r>
            <a:r>
              <a:rPr kumimoji="0" lang="zh-CN" altLang="en-US" sz="7200" i="0" u="none" strike="noStrike" cap="none" spc="0" normalizeH="0" baseline="0" dirty="0">
                <a:ln w="28575">
                  <a:noFill/>
                </a:ln>
                <a:solidFill>
                  <a:srgbClr val="525E8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感谢观看</a:t>
            </a:r>
            <a:endParaRPr kumimoji="0" lang="zh-CN" altLang="en-US" sz="7200" i="0" u="none" strike="noStrike" cap="none" spc="0" normalizeH="0" baseline="0" dirty="0">
              <a:ln w="28575">
                <a:noFill/>
              </a:ln>
              <a:solidFill>
                <a:srgbClr val="525E84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 rot="10800000">
            <a:off x="-28575" y="6240780"/>
            <a:ext cx="8173085" cy="6172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0" y="0"/>
            <a:ext cx="4754880" cy="1418590"/>
            <a:chOff x="0" y="0"/>
            <a:chExt cx="7488" cy="2234"/>
          </a:xfrm>
        </p:grpSpPr>
        <p:sp>
          <p:nvSpPr>
            <p:cNvPr id="6" name="任意多边形 5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7437120" y="5439410"/>
            <a:ext cx="4754880" cy="1418590"/>
            <a:chOff x="0" y="0"/>
            <a:chExt cx="7488" cy="2234"/>
          </a:xfrm>
        </p:grpSpPr>
        <p:sp>
          <p:nvSpPr>
            <p:cNvPr id="17" name="任意多边形 16"/>
            <p:cNvSpPr/>
            <p:nvPr/>
          </p:nvSpPr>
          <p:spPr>
            <a:xfrm>
              <a:off x="0" y="0"/>
              <a:ext cx="7488" cy="122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E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1222"/>
              <a:ext cx="5240" cy="10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222">
                  <a:moveTo>
                    <a:pt x="0" y="0"/>
                  </a:moveTo>
                  <a:lnTo>
                    <a:pt x="7488" y="0"/>
                  </a:lnTo>
                  <a:lnTo>
                    <a:pt x="6508" y="1222"/>
                  </a:lnTo>
                  <a:lnTo>
                    <a:pt x="0" y="1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C1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415540" y="3379470"/>
            <a:ext cx="737044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cap="all" dirty="0">
                <a:solidFill>
                  <a:srgbClr val="525E84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THANK YOU FOR YOUR LISTENING</a:t>
            </a:r>
            <a:endParaRPr lang="en-US" altLang="zh-CN" cap="all" dirty="0">
              <a:solidFill>
                <a:srgbClr val="525E84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2518093" y="4123055"/>
            <a:ext cx="7155815" cy="711200"/>
            <a:chOff x="3589" y="6397"/>
            <a:chExt cx="11269" cy="1120"/>
          </a:xfrm>
        </p:grpSpPr>
        <p:grpSp>
          <p:nvGrpSpPr>
            <p:cNvPr id="32" name="组合 31"/>
            <p:cNvGrpSpPr/>
            <p:nvPr/>
          </p:nvGrpSpPr>
          <p:grpSpPr>
            <a:xfrm>
              <a:off x="3589" y="6397"/>
              <a:ext cx="5258" cy="1121"/>
              <a:chOff x="3589" y="6397"/>
              <a:chExt cx="5258" cy="1121"/>
            </a:xfrm>
          </p:grpSpPr>
          <p:sp>
            <p:nvSpPr>
              <p:cNvPr id="30" name="平行四边形 29"/>
              <p:cNvSpPr/>
              <p:nvPr/>
            </p:nvSpPr>
            <p:spPr>
              <a:xfrm>
                <a:off x="3589" y="6397"/>
                <a:ext cx="5258" cy="855"/>
              </a:xfrm>
              <a:prstGeom prst="parallelogram">
                <a:avLst/>
              </a:prstGeom>
              <a:solidFill>
                <a:srgbClr val="525E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485" y="6538"/>
                <a:ext cx="3465" cy="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汇报人：</a:t>
                </a: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徐韵曦</a:t>
                </a:r>
                <a:endParaRPr kumimoji="0" lang="zh-CN" altLang="en-US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9600" y="6397"/>
              <a:ext cx="5258" cy="1121"/>
              <a:chOff x="3589" y="6397"/>
              <a:chExt cx="5258" cy="1121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3589" y="6397"/>
                <a:ext cx="5258" cy="855"/>
              </a:xfrm>
              <a:prstGeom prst="parallelogram">
                <a:avLst/>
              </a:prstGeom>
              <a:solidFill>
                <a:srgbClr val="E3C1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027" y="6538"/>
                <a:ext cx="4484" cy="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汇报时间：</a:t>
                </a:r>
                <a:r>
                  <a:rPr kumimoji="0" lang="en-US" altLang="zh-CN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2026.6.15</a:t>
                </a:r>
                <a:endPara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65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66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67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68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69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0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1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2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3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4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5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6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7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8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79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80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81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82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83.xml><?xml version="1.0" encoding="utf-8"?>
<p:tagLst xmlns:p="http://schemas.openxmlformats.org/presentationml/2006/main">
  <p:tag name="KSO_WM_DIAGRAM_VIRTUALLY_FRAME" val="{&quot;height&quot;:229.55,&quot;left&quot;:95,&quot;top&quot;:229.95,&quot;width&quot;:765.9}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87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88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89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0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1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2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3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4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5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6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7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8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1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2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3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4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5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6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7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8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09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0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1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2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3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4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5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6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9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0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1.xml><?xml version="1.0" encoding="utf-8"?>
<p:tagLst xmlns:p="http://schemas.openxmlformats.org/presentationml/2006/main">
  <p:tag name="KSO_WM_DIAGRAM_VIRTUALLY_FRAME" val="{&quot;height&quot;:433.4,&quot;left&quot;:546.05,&quot;top&quot;:95.15,&quot;width&quot;:317.25}"/>
</p:tagLst>
</file>

<file path=ppt/tags/tag122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3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4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5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6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7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8.xml><?xml version="1.0" encoding="utf-8"?>
<p:tagLst xmlns:p="http://schemas.openxmlformats.org/presentationml/2006/main">
  <p:tag name="KSO_WM_DIAGRAM_VIRTUALLY_FRAME" val="{&quot;height&quot;:440.6,&quot;left&quot;:485.25,&quot;top&quot;:88.75,&quot;width&quot;:459.9}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0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1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2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3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4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6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7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9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0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1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2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44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5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46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147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148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149.xml><?xml version="1.0" encoding="utf-8"?>
<p:tagLst xmlns:p="http://schemas.openxmlformats.org/presentationml/2006/main">
  <p:tag name="KSO_WM_DIAGRAM_VIRTUALLY_FRAME" val="{&quot;height&quot;:325.45,&quot;left&quot;:65.45,&quot;top&quot;:127.85,&quot;width&quot;:838.35}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51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2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3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4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5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6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7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8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59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0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1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2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3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4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5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6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7.xml><?xml version="1.0" encoding="utf-8"?>
<p:tagLst xmlns:p="http://schemas.openxmlformats.org/presentationml/2006/main">
  <p:tag name="KSO_WM_DIAGRAM_VIRTUALLY_FRAME" val="{&quot;height&quot;:387.05,&quot;left&quot;:57.9,&quot;top&quot;:149.6,&quot;width&quot;:829.65}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9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170.xml><?xml version="1.0" encoding="utf-8"?>
<p:tagLst xmlns:p="http://schemas.openxmlformats.org/presentationml/2006/main">
  <p:tag name="TABLE_ENDDRAG_ORIGIN_RECT" val="886*306"/>
  <p:tag name="TABLE_ENDDRAG_RECT" val="32*168*886*306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resource_record_key" val="{&quot;29&quot;:[50053072,50053052],&quot;65&quot;:[20205176]}"/>
</p:tagLst>
</file>

<file path=ppt/tags/tag172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3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4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5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6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7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8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79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0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1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2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3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4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5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6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7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8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89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90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91.xml><?xml version="1.0" encoding="utf-8"?>
<p:tagLst xmlns:p="http://schemas.openxmlformats.org/presentationml/2006/main">
  <p:tag name="KSO_WM_DIAGRAM_VIRTUALLY_FRAME" val="{&quot;height&quot;:371.7,&quot;left&quot;:59.90086614173229,&quot;top&quot;:146.55,&quot;width&quot;:849.2206299212597}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3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4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5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6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7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8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199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0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1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2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3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4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5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6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7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8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09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10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11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12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7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28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29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1.xml><?xml version="1.0" encoding="utf-8"?>
<p:tagLst xmlns:p="http://schemas.openxmlformats.org/presentationml/2006/main">
  <p:tag name="KSO_WM_DIAGRAM_VIRTUALLY_FRAME" val="{&quot;height&quot;:499.27256822110877,&quot;left&quot;:3.05,&quot;top&quot;:91.86371588944567,&quot;width&quot;:956.95}"/>
</p:tagLst>
</file>

<file path=ppt/tags/tag2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4.xml><?xml version="1.0" encoding="utf-8"?>
<p:tagLst xmlns:p="http://schemas.openxmlformats.org/presentationml/2006/main">
  <p:tag name="KSO_WM_DIAGRAM_VIRTUALLY_FRAME" val="{&quot;height&quot;:435.9,&quot;left&quot;:32.2,&quot;top&quot;:92.65,&quot;width&quot;:831.1}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6.xml><?xml version="1.0" encoding="utf-8"?>
<p:tagLst xmlns:p="http://schemas.openxmlformats.org/presentationml/2006/main">
  <p:tag name="TABLE_ENDDRAG_ORIGIN_RECT" val="895*306"/>
  <p:tag name="TABLE_ENDDRAG_RECT" val="32*117*895*306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8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39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0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1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2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3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4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5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6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7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8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49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0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1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2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3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4.xml><?xml version="1.0" encoding="utf-8"?>
<p:tagLst xmlns:p="http://schemas.openxmlformats.org/presentationml/2006/main">
  <p:tag name="KSO_WM_DIAGRAM_VIRTUALLY_FRAME" val="{&quot;height&quot;:279.2011811023622,&quot;left&quot;:13.9,&quot;top&quot;:158.2488188976378,&quot;width&quot;:912.6001574803149}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7.xml><?xml version="1.0" encoding="utf-8"?>
<p:tagLst xmlns:p="http://schemas.openxmlformats.org/presentationml/2006/main">
  <p:tag name="COMMONDATA" val="eyJoZGlkIjoiNTY1YjgxZWVmMjU5YTIyMTRkYmZiNDIyODEzMjQ3ODEifQ=="/>
  <p:tag name="resource_record_key" val="{&quot;29&quot;:[50053072,50053052],&quot;65&quot;:[20205176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4891</Words>
  <Application>WPS 演示</Application>
  <PresentationFormat>宽屏</PresentationFormat>
  <Paragraphs>474</Paragraphs>
  <Slides>35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思源黑体 CN Regular</vt:lpstr>
      <vt:lpstr>Wingdings</vt:lpstr>
      <vt:lpstr>思源黑体 CN 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Arcee • 曦</cp:lastModifiedBy>
  <cp:revision>206</cp:revision>
  <dcterms:created xsi:type="dcterms:W3CDTF">2019-06-19T02:08:00Z</dcterms:created>
  <dcterms:modified xsi:type="dcterms:W3CDTF">2026-06-14T14:10:33Z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764167546B524243884EDA172E6C5918_11</vt:lpwstr>
  </property>
  <property fmtid="{D5CDD505-2E9C-101B-9397-08002B2CF9AE}" pid="4" name="KSOTemplateUUID">
    <vt:lpwstr>v1.0_mb_giC4ye4vikjRTWIiRZJoyw==</vt:lpwstr>
  </property>
</Properties>
</file>